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35f3d82963443f" /><Relationship Type="http://schemas.openxmlformats.org/officeDocument/2006/relationships/extended-properties" Target="/docProps/app.xml" Id="R076b4d1296ce4b7a" /><Relationship Type="http://schemas.openxmlformats.org/officeDocument/2006/relationships/officeDocument" Target="/ppt/presentation.xml" Id="Rd85746b7e4954071" /></Relationships>
</file>

<file path=ppt/presentation.xml><?xml version="1.0" encoding="utf-8"?>
<p:presentation xmlns:p="http://schemas.openxmlformats.org/presentationml/2006/main">
  <p:sldMasterIdLst>
    <p:sldMasterId xmlns:r="http://schemas.openxmlformats.org/officeDocument/2006/relationships" id="2147483648" r:id="R6372de0ce8f84e92"/>
  </p:sldMasterIdLst>
  <p:notesMasterIdLst>
    <p:notesMasterId xmlns:r="http://schemas.openxmlformats.org/officeDocument/2006/relationships" r:id="Recf5f5c72f094716"/>
  </p:notesMasterIdLst>
  <p:sldIdLst>
    <p:sldId xmlns:r="http://schemas.openxmlformats.org/officeDocument/2006/relationships" id="256" r:id="R21bb3da9816b4ce7"/>
    <p:sldId xmlns:r="http://schemas.openxmlformats.org/officeDocument/2006/relationships" id="257" r:id="R8e7cc7ed1de74bd4"/>
    <p:sldId xmlns:r="http://schemas.openxmlformats.org/officeDocument/2006/relationships" id="258" r:id="R6505e72ea42d493a"/>
    <p:sldId xmlns:r="http://schemas.openxmlformats.org/officeDocument/2006/relationships" id="259" r:id="R672bfef95bad4b11"/>
    <p:sldId xmlns:r="http://schemas.openxmlformats.org/officeDocument/2006/relationships" id="260" r:id="Rcd880f9dfce94c49"/>
    <p:sldId xmlns:r="http://schemas.openxmlformats.org/officeDocument/2006/relationships" id="261" r:id="Rf1faaf68d7da472c"/>
    <p:sldId xmlns:r="http://schemas.openxmlformats.org/officeDocument/2006/relationships" id="262" r:id="R04655d9ada4c44da"/>
    <p:sldId xmlns:r="http://schemas.openxmlformats.org/officeDocument/2006/relationships" id="263" r:id="Rcfa12bea03b74c2c"/>
    <p:sldId xmlns:r="http://schemas.openxmlformats.org/officeDocument/2006/relationships" id="264" r:id="R4555eab0fc754fd6"/>
    <p:sldId xmlns:r="http://schemas.openxmlformats.org/officeDocument/2006/relationships" id="265" r:id="R80575581b2b14afb"/>
    <p:sldId xmlns:r="http://schemas.openxmlformats.org/officeDocument/2006/relationships" id="266" r:id="R50b38df0a4c74b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a0491e71c3490d" /><Relationship Type="http://schemas.openxmlformats.org/officeDocument/2006/relationships/slideMaster" Target="/ppt/slideMasters/slideMaster1.xml" Id="R6372de0ce8f84e92" /><Relationship Type="http://schemas.openxmlformats.org/officeDocument/2006/relationships/notesMaster" Target="/ppt/notesMasters/notesMaster1.xml" Id="Recf5f5c72f094716" /><Relationship Type="http://schemas.openxmlformats.org/officeDocument/2006/relationships/presProps" Target="/ppt/presProps.xml" Id="R6bc9ec38216b457d" /><Relationship Type="http://schemas.openxmlformats.org/officeDocument/2006/relationships/tableStyles" Target="/ppt/tableStyles.xml" Id="Rb7643c6887ab4ef8" /><Relationship Type="http://schemas.openxmlformats.org/officeDocument/2006/relationships/slide" Target="/ppt/slides/slide1.xml" Id="R21bb3da9816b4ce7" /><Relationship Type="http://schemas.openxmlformats.org/officeDocument/2006/relationships/slide" Target="/ppt/slides/slide2.xml" Id="R8e7cc7ed1de74bd4" /><Relationship Type="http://schemas.openxmlformats.org/officeDocument/2006/relationships/slide" Target="/ppt/slides/slide3.xml" Id="R6505e72ea42d493a" /><Relationship Type="http://schemas.openxmlformats.org/officeDocument/2006/relationships/slide" Target="/ppt/slides/slide4.xml" Id="R672bfef95bad4b11" /><Relationship Type="http://schemas.openxmlformats.org/officeDocument/2006/relationships/slide" Target="/ppt/slides/slide5.xml" Id="Rcd880f9dfce94c49" /><Relationship Type="http://schemas.openxmlformats.org/officeDocument/2006/relationships/slide" Target="/ppt/slides/slide6.xml" Id="Rf1faaf68d7da472c" /><Relationship Type="http://schemas.openxmlformats.org/officeDocument/2006/relationships/slide" Target="/ppt/slides/slide7.xml" Id="R04655d9ada4c44da" /><Relationship Type="http://schemas.openxmlformats.org/officeDocument/2006/relationships/slide" Target="/ppt/slides/slide8.xml" Id="Rcfa12bea03b74c2c" /><Relationship Type="http://schemas.openxmlformats.org/officeDocument/2006/relationships/slide" Target="/ppt/slides/slide9.xml" Id="R4555eab0fc754fd6" /><Relationship Type="http://schemas.openxmlformats.org/officeDocument/2006/relationships/slide" Target="/ppt/slides/slide10.xml" Id="R80575581b2b14afb" /><Relationship Type="http://schemas.openxmlformats.org/officeDocument/2006/relationships/slide" Target="/ppt/slides/slide11.xml" Id="R50b38df0a4c74b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69b83d117247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9590af8687433e" /><Relationship Type="http://schemas.openxmlformats.org/officeDocument/2006/relationships/notesMaster" Target="/ppt/notesMasters/notesMaster1.xml" Id="R137f4b74b38448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37931311dc4a58" /><Relationship Type="http://schemas.openxmlformats.org/officeDocument/2006/relationships/notesMaster" Target="/ppt/notesMasters/notesMaster1.xml" Id="Re0b2b1b44adf4a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cacac199574864" /><Relationship Type="http://schemas.openxmlformats.org/officeDocument/2006/relationships/notesMaster" Target="/ppt/notesMasters/notesMaster1.xml" Id="R1c3ec0e1340e47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22b1eadfd645df" /><Relationship Type="http://schemas.openxmlformats.org/officeDocument/2006/relationships/notesMaster" Target="/ppt/notesMasters/notesMaster1.xml" Id="R0e98bc37984f4e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dc6dd0c4194d63" /><Relationship Type="http://schemas.openxmlformats.org/officeDocument/2006/relationships/notesMaster" Target="/ppt/notesMasters/notesMaster1.xml" Id="Re042ecf87b4145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5c35b15fc14a91" /><Relationship Type="http://schemas.openxmlformats.org/officeDocument/2006/relationships/notesMaster" Target="/ppt/notesMasters/notesMaster1.xml" Id="Rbe63ff3ef60542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757f7ece3549be" /><Relationship Type="http://schemas.openxmlformats.org/officeDocument/2006/relationships/notesMaster" Target="/ppt/notesMasters/notesMaster1.xml" Id="Ra09a1d1cdc5d4d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3eb4725d914f9a" /><Relationship Type="http://schemas.openxmlformats.org/officeDocument/2006/relationships/notesMaster" Target="/ppt/notesMasters/notesMaster1.xml" Id="R93dad3e151784d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45c3bd2dc6410b" /><Relationship Type="http://schemas.openxmlformats.org/officeDocument/2006/relationships/notesMaster" Target="/ppt/notesMasters/notesMaster1.xml" Id="R87c0a084185646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5f4685cd924baa" /><Relationship Type="http://schemas.openxmlformats.org/officeDocument/2006/relationships/notesMaster" Target="/ppt/notesMasters/notesMaster1.xml" Id="R5fb9909e4f6245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1e6bccf5bc40a9" /><Relationship Type="http://schemas.openxmlformats.org/officeDocument/2006/relationships/notesMaster" Target="/ppt/notesMasters/notesMaster1.xml" Id="R0246996180334e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Open with the research question: which lightweight detector should we deploy when the driver is someone the model has never seen? State that the answer is not a single winner; it is a measurable trade-off among localization, reliability, and speed.</a:t>
            </a:r>
          </a:p>
          <a:p xmlns:a="http://schemas.openxmlformats.org/drawingml/2006/main">
            <a:r>
              <a:t/>
            </a:r>
          </a:p>
          <a:p xmlns:a="http://schemas.openxmlformats.org/drawingml/2006/main">
            <a:r>
              <a:t>[Sources]</a:t>
            </a:r>
          </a:p>
          <a:p xmlns:a="http://schemas.openxmlformats.org/drawingml/2006/main">
            <a:r>
              <a:t>- Manuscript title and author block: docs/manuscript/main.tex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Begin with why this matters: in-cabin systems face new identities, illumination, viewpoints, and occlusion. Explain that bounding boxes make the evidence inspectable, unlike a whole-frame label that can exploit background or identity. Clarify that this is single-frame cue detection, not fatigue or intent inference.</a:t>
            </a:r>
          </a:p>
          <a:p xmlns:a="http://schemas.openxmlformats.org/drawingml/2006/main">
            <a:r>
              <a:t/>
            </a:r>
          </a:p>
          <a:p xmlns:a="http://schemas.openxmlformats.org/drawingml/2006/main">
            <a:r>
              <a:t>[Sources]</a:t>
            </a:r>
          </a:p>
          <a:p xmlns:a="http://schemas.openxmlformats.org/drawingml/2006/main">
            <a:r>
              <a:t>- Manuscript Introduction and Task Definition: docs/manuscript/main.tex</a:t>
            </a:r>
          </a:p>
          <a:p xmlns:a="http://schemas.openxmlformats.org/drawingml/2006/main">
            <a:r>
              <a:t>- Euro NCAP driver-monitoring context: https://www.euroncap.com/en/for-engineers/protocols/safety-assist/</a:t>
            </a:r>
          </a:p>
          <a:p xmlns:a="http://schemas.openxmlformats.org/drawingml/2006/main">
            <a:r>
              <a:t>- Asset: docs/assets/examples/phone_use_annotation_example.png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Keep the review short. Contrast classification and detection, then explain why cross-paper rankings are unreliable when identity leakage, negative-frame handling, threshold tuning, and latency definitions differ. End by naming the controlled gap this work addresses.</a:t>
            </a:r>
          </a:p>
          <a:p xmlns:a="http://schemas.openxmlformats.org/drawingml/2006/main">
            <a:r>
              <a:t/>
            </a:r>
          </a:p>
          <a:p xmlns:a="http://schemas.openxmlformats.org/drawingml/2006/main">
            <a:r>
              <a:t>[Sources]</a:t>
            </a:r>
          </a:p>
          <a:p xmlns:a="http://schemas.openxmlformats.org/drawingml/2006/main">
            <a:r>
              <a:t>- Manuscript Related Work: docs/manuscript/main.tex</a:t>
            </a:r>
          </a:p>
          <a:p xmlns:a="http://schemas.openxmlformats.org/drawingml/2006/main">
            <a:r>
              <a:t>- DMD dataset: https://doi.org/10.1007/978-3-030-58523-5_39</a:t>
            </a:r>
          </a:p>
          <a:p xmlns:a="http://schemas.openxmlformats.org/drawingml/2006/main">
            <a:r>
              <a:t>- Drive&amp;Act dataset: https://doi.org/10.1109/ICCV.2019.00289</a:t>
            </a:r>
          </a:p>
          <a:p xmlns:a="http://schemas.openxmlformats.org/drawingml/2006/main">
            <a:r>
              <a:t>- Asset: docs/assets/examples/drinking_annotation_example.png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Establish scope without listing all training settings. The RGB benchmark is primary: 15,723 frames from 14 drivers, four cues, and three paired seeds. The NIR experiment is complementary—not a modality comparison—and tests the effect of greater negative exposure across eight model families.</a:t>
            </a:r>
          </a:p>
          <a:p xmlns:a="http://schemas.openxmlformats.org/drawingml/2006/main">
            <a:r>
              <a:t/>
            </a:r>
          </a:p>
          <a:p xmlns:a="http://schemas.openxmlformats.org/drawingml/2006/main">
            <a:r>
              <a:t>[Sources]</a:t>
            </a:r>
          </a:p>
          <a:p xmlns:a="http://schemas.openxmlformats.org/drawingml/2006/main">
            <a:r>
              <a:t>- Manuscript RGB Dataset, Split, Models, and Exploratory NIR Protocol: docs/manuscript/main.tex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Walk left to right. Subjects—not frames—are split. Train and validate before a checksum and confirmation gate. Select confidence thresholds only on validation data. Touch the protected test set once for final evaluation. Explain that all sampled negative frames stay in the benchmark so nuisance detections are measurable.</a:t>
            </a:r>
          </a:p>
          <a:p xmlns:a="http://schemas.openxmlformats.org/drawingml/2006/main">
            <a:r>
              <a:t/>
            </a:r>
          </a:p>
          <a:p xmlns:a="http://schemas.openxmlformats.org/drawingml/2006/main">
            <a:r>
              <a:t>[Sources]</a:t>
            </a:r>
          </a:p>
          <a:p xmlns:a="http://schemas.openxmlformats.org/drawingml/2006/main">
            <a:r>
              <a:t>- Manuscript Methodology: docs/manuscript/main.tex</a:t>
            </a:r>
          </a:p>
          <a:p xmlns:a="http://schemas.openxmlformats.org/drawingml/2006/main">
            <a:r>
              <a:t>- Figure asset: results/summary/figures/protocol_workflow.pdf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95 seconds. This is the central result. Use the directional plot, not every table value. YOLO11n leads coarse-IoU accuracy and throughput; YOLO26n leads strict-IoU localization; D-FINE-N leads calibrated micro- and macro-F1 but is slower. Emphasize that these are system-level results under native recipes.</a:t>
            </a:r>
          </a:p>
          <a:p xmlns:a="http://schemas.openxmlformats.org/drawingml/2006/main">
            <a:r>
              <a:t/>
            </a:r>
          </a:p>
          <a:p xmlns:a="http://schemas.openxmlformats.org/drawingml/2006/main">
            <a:r>
              <a:t>[Sources]</a:t>
            </a:r>
          </a:p>
          <a:p xmlns:a="http://schemas.openxmlformats.org/drawingml/2006/main">
            <a:r>
              <a:t>- Manuscript Table III and Aggregate RGB Results: docs/manuscript/main.tex</a:t>
            </a:r>
          </a:p>
          <a:p xmlns:a="http://schemas.openxmlformats.org/drawingml/2006/main">
            <a:r>
              <a:t>- Figure asset: results/RGB/summary/figures/normalized_model_comparison.pdf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 seconds. Point to Subject 10. The performance swing across held-out drivers is much larger than pooled seed standard deviation. This is the defense for subject-level reporting: aggregate metrics can look stable while a deployment-critical identity fails.</a:t>
            </a:r>
          </a:p>
          <a:p xmlns:a="http://schemas.openxmlformats.org/drawingml/2006/main">
            <a:r>
              <a:t/>
            </a:r>
          </a:p>
          <a:p xmlns:a="http://schemas.openxmlformats.org/drawingml/2006/main">
            <a:r>
              <a:t>[Sources]</a:t>
            </a:r>
          </a:p>
          <a:p xmlns:a="http://schemas.openxmlformats.org/drawingml/2006/main">
            <a:r>
              <a:t>- Manuscript Held-Out Subject Sensitivity: docs/manuscript/main.tex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Use one example per column. Correct detections localize the intended interaction. False negatives show glare and small drinking targets. The false-positive example is more important: a nominal negative can be visually cue-like, exposing ontology or missed-label risk that a structural annotation audit cannot resolve.</a:t>
            </a:r>
          </a:p>
          <a:p xmlns:a="http://schemas.openxmlformats.org/drawingml/2006/main">
            <a:r>
              <a:t/>
            </a:r>
          </a:p>
          <a:p xmlns:a="http://schemas.openxmlformats.org/drawingml/2006/main">
            <a:r>
              <a:t>[Sources]</a:t>
            </a:r>
          </a:p>
          <a:p xmlns:a="http://schemas.openxmlformats.org/drawingml/2006/main">
            <a:r>
              <a:t>- Manuscript Qualitative Error Analysis: docs/manuscript/main.tex</a:t>
            </a:r>
          </a:p>
          <a:p xmlns:a="http://schemas.openxmlformats.org/drawingml/2006/main">
            <a:r>
              <a:t>- Figure asset: results/RGB/summary/figures/qualitative_examples.pdf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 seconds. The 1:6 condition triples unique negatives and increases optimizer updates, so this is an exposure study rather than a causal ratio ablation. Strict-IoU AP improves for only three of eight systems; micro-F1 improves for only SSDLite. The direction is model-dependent, so 'more negatives' is not a safe universal prescription.</a:t>
            </a:r>
          </a:p>
          <a:p xmlns:a="http://schemas.openxmlformats.org/drawingml/2006/main">
            <a:r>
              <a:t/>
            </a:r>
          </a:p>
          <a:p xmlns:a="http://schemas.openxmlformats.org/drawingml/2006/main">
            <a:r>
              <a:t>[Sources]</a:t>
            </a:r>
          </a:p>
          <a:p xmlns:a="http://schemas.openxmlformats.org/drawingml/2006/main">
            <a:r>
              <a:t>- Manuscript Exploratory NIR Results: docs/manuscript/main.tex</a:t>
            </a:r>
          </a:p>
          <a:p xmlns:a="http://schemas.openxmlformats.org/drawingml/2006/main">
            <a:r>
              <a:t>- Figure asset: results/NIR/summary/figures/training_negative_exposure.pdf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 seconds. Translate the benchmark into a decision. If nuisance alerts erode trust, start with YOLO11n. If precise boxes feed downstream gaze or posture logic, YOLO26n's strict-IoU advantage matters. If calibrated detection reliability dominates and latency is acceptable, D-FINE-N leads. End with the caveat that the target population and hardware still require validation.</a:t>
            </a:r>
          </a:p>
          <a:p xmlns:a="http://schemas.openxmlformats.org/drawingml/2006/main">
            <a:r>
              <a:t/>
            </a:r>
          </a:p>
          <a:p xmlns:a="http://schemas.openxmlformats.org/drawingml/2006/main">
            <a:r>
              <a:t>[Sources]</a:t>
            </a:r>
          </a:p>
          <a:p xmlns:a="http://schemas.openxmlformats.org/drawingml/2006/main">
            <a:r>
              <a:t>- Manuscript Discussion and Conclusion: docs/manuscript/main.tex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then questions. Resolve the opening: the best system depends on which error is expensive. Reiterate the three methodological practices—subject-level splits, validation-only calibration, and visible failure reporting. Invite questions about the split, operating-point selection, class imbalance, NIR exposure design, and hardware timing.</a:t>
            </a:r>
          </a:p>
          <a:p xmlns:a="http://schemas.openxmlformats.org/drawingml/2006/main">
            <a:r>
              <a:t/>
            </a:r>
          </a:p>
          <a:p xmlns:a="http://schemas.openxmlformats.org/drawingml/2006/main">
            <a:r>
              <a:t>[Sources]</a:t>
            </a:r>
          </a:p>
          <a:p xmlns:a="http://schemas.openxmlformats.org/drawingml/2006/main">
            <a:r>
              <a:t>- Manuscript Conclusion and Data and Code statement: docs/manuscript/main.tex</a:t>
            </a:r>
          </a:p>
          <a:p xmlns:a="http://schemas.openxmlformats.org/drawingml/2006/main">
            <a:r>
              <a:t>- Repository: https://github.com/IamOumarIbrahim/lightweight-driver-behavior-detection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23b5d534274e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50a39f18464fd2" /><Relationship Type="http://schemas.openxmlformats.org/officeDocument/2006/relationships/slideLayout" Target="/ppt/slideLayouts/slideLayout1.xml" Id="Rf835771a730541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35771a730541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82438e0b2942b2" /><Relationship Type="http://schemas.openxmlformats.org/officeDocument/2006/relationships/notesSlide" Target="/ppt/notesSlides/notesSlide1.xml" Id="R200b2a3c9da34a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d0de8ed17643f4" /><Relationship Type="http://schemas.openxmlformats.org/officeDocument/2006/relationships/image" Target="/ppt/media/image.png" Id="R6d7c8ece38df4326" /><Relationship Type="http://schemas.openxmlformats.org/officeDocument/2006/relationships/notesSlide" Target="/ppt/notesSlides/notesSlide2.xml" Id="Re133d427092245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d4d06e43b040ef" /><Relationship Type="http://schemas.openxmlformats.org/officeDocument/2006/relationships/image" Target="/ppt/media/image2.png" Id="R92fd82c9ece34757" /><Relationship Type="http://schemas.openxmlformats.org/officeDocument/2006/relationships/notesSlide" Target="/ppt/notesSlides/notesSlide3.xml" Id="R72a381302df948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deaee6138b4fe7" /><Relationship Type="http://schemas.openxmlformats.org/officeDocument/2006/relationships/notesSlide" Target="/ppt/notesSlides/notesSlide4.xml" Id="Rcd790e05b3b24d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25f521faf3452c" /><Relationship Type="http://schemas.openxmlformats.org/officeDocument/2006/relationships/image" Target="/ppt/media/image3.png" Id="R9ca90c0d98164d7a" /><Relationship Type="http://schemas.openxmlformats.org/officeDocument/2006/relationships/notesSlide" Target="/ppt/notesSlides/notesSlide5.xml" Id="Rf00601f570d649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7fab5d0dfc4c94" /><Relationship Type="http://schemas.openxmlformats.org/officeDocument/2006/relationships/image" Target="/ppt/media/image4.png" Id="R9e4f573dac8b453f" /><Relationship Type="http://schemas.openxmlformats.org/officeDocument/2006/relationships/notesSlide" Target="/ppt/notesSlides/notesSlide6.xml" Id="R9fe805f793c34d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4530de8640429c" /><Relationship Type="http://schemas.openxmlformats.org/officeDocument/2006/relationships/chart" Target="/ppt/slides/charts/chart1.xml" Id="R7985298f4d0d4e40" /><Relationship Type="http://schemas.openxmlformats.org/officeDocument/2006/relationships/notesSlide" Target="/ppt/notesSlides/notesSlide7.xml" Id="Re52d6739e3cd4d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e7cabdb9d74847" /><Relationship Type="http://schemas.openxmlformats.org/officeDocument/2006/relationships/image" Target="/ppt/media/image5.png" Id="Rd8e84205dc6145bd" /><Relationship Type="http://schemas.openxmlformats.org/officeDocument/2006/relationships/notesSlide" Target="/ppt/notesSlides/notesSlide8.xml" Id="Ref27823f851241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c3c207702c4d95" /><Relationship Type="http://schemas.openxmlformats.org/officeDocument/2006/relationships/image" Target="/ppt/media/image6.png" Id="R6e3decfd861049eb" /><Relationship Type="http://schemas.openxmlformats.org/officeDocument/2006/relationships/notesSlide" Target="/ppt/notesSlides/notesSlide9.xml" Id="R18fa1c1f102343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7780e2270f4123" /><Relationship Type="http://schemas.openxmlformats.org/officeDocument/2006/relationships/notesSlide" Target="/ppt/notesSlides/notesSlide10.xml" Id="Rcf60ff4d357348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477b60b34514c0a" /><Relationship Type="http://schemas.openxmlformats.org/officeDocument/2006/relationships/notesSlide" Target="/ppt/notesSlides/notesSlide11.xml" Id="R1d01a775f83446de" /></Relationships>
</file>

<file path=ppt/slides/charts/chart1.xml><?xml version="1.0" encoding="utf-8"?>
<c:chartSpace xmlns:c="http://schemas.openxmlformats.org/drawingml/2006/chart">
  <c:lang val="en-US"/>
  <c:chart>
    <c:plotArea>
      <c:barChart>
        <c:barDir val="col"/>
        <c:grouping val="clustered"/>
        <c:varyColors val="0"/>
        <c:ser>
          <c:idx val="0"/>
          <c:order val="0"/>
          <c:tx>
            <c:v>YOLO11n</c:v>
          </c:tx>
          <c:spPr>
            <a:solidFill xmlns:a="http://schemas.openxmlformats.org/drawingml/2006/main">
              <a:srgbClr val="3D8DFF"/>
            </a:solidFill>
          </c:spPr>
          <c:cat>
            <c:strLit>
              <c:ptCount val="3"/>
              <c:pt idx="0">
                <c:v>Subject 05</c:v>
              </c:pt>
              <c:pt idx="1">
                <c:v>Subject 10</c:v>
              </c:pt>
              <c:pt idx="2">
                <c:v>Subject 12</c:v>
              </c:pt>
            </c:strLit>
          </c:cat>
          <c:val>
            <c:numLit>
              <c:formatCode>General</c:formatCode>
              <c:ptCount val="3"/>
              <c:pt idx="0">
                <c:v>94.94</c:v>
              </c:pt>
              <c:pt idx="1">
                <c:v>62.41</c:v>
              </c:pt>
              <c:pt idx="2">
                <c:v>94.72</c:v>
              </c:pt>
            </c:numLit>
          </c:val>
        </c:ser>
        <c:ser>
          <c:idx val="1"/>
          <c:order val="1"/>
          <c:tx>
            <c:v>YOLO26n</c:v>
          </c:tx>
          <c:spPr>
            <a:solidFill xmlns:a="http://schemas.openxmlformats.org/drawingml/2006/main">
              <a:srgbClr val="D55E00"/>
            </a:solidFill>
          </c:spPr>
          <c:cat>
            <c:strLit>
              <c:ptCount val="3"/>
              <c:pt idx="0">
                <c:v>Subject 05</c:v>
              </c:pt>
              <c:pt idx="1">
                <c:v>Subject 10</c:v>
              </c:pt>
              <c:pt idx="2">
                <c:v>Subject 12</c:v>
              </c:pt>
            </c:strLit>
          </c:cat>
          <c:val>
            <c:numLit>
              <c:formatCode>General</c:formatCode>
              <c:ptCount val="3"/>
              <c:pt idx="0">
                <c:v>96.11</c:v>
              </c:pt>
              <c:pt idx="1">
                <c:v>54.11</c:v>
              </c:pt>
              <c:pt idx="2">
                <c:v>92.29</c:v>
              </c:pt>
            </c:numLit>
          </c:val>
        </c:ser>
        <c:ser>
          <c:idx val="2"/>
          <c:order val="2"/>
          <c:tx>
            <c:v>D-FINE-N</c:v>
          </c:tx>
          <c:spPr>
            <a:solidFill xmlns:a="http://schemas.openxmlformats.org/drawingml/2006/main">
              <a:srgbClr val="009E73"/>
            </a:solidFill>
          </c:spPr>
          <c:cat>
            <c:strLit>
              <c:ptCount val="3"/>
              <c:pt idx="0">
                <c:v>Subject 05</c:v>
              </c:pt>
              <c:pt idx="1">
                <c:v>Subject 10</c:v>
              </c:pt>
              <c:pt idx="2">
                <c:v>Subject 12</c:v>
              </c:pt>
            </c:strLit>
          </c:cat>
          <c:val>
            <c:numLit>
              <c:formatCode>General</c:formatCode>
              <c:ptCount val="3"/>
              <c:pt idx="0">
                <c:v>98.2</c:v>
              </c:pt>
              <c:pt idx="1">
                <c:v>78.79</c:v>
              </c:pt>
              <c:pt idx="2">
                <c:v>94.3</c:v>
              </c:pt>
            </c:numLit>
          </c:val>
        </c:ser>
        <c:dLbls>
          <c:txPr>
            <a:bodyPr xmlns:a="http://schemas.openxmlformats.org/drawingml/2006/main" anchorCtr="1"/>
            <a:lstStyle xmlns:a="http://schemas.openxmlformats.org/drawingml/2006/main"/>
            <a:p xmlns:a="http://schemas.openxmlformats.org/drawingml/2006/main">
              <a:pPr>
                <a:defRPr sz="1050" b="1">
                  <a:solidFill>
                    <a:srgbClr val="111111"/>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11111"/>
                </a:solidFill>
              </a:defRPr>
            </a:pPr>
          </a:p>
        </c:txPr>
        <c:crossAx val="48672768"/>
      </c:catAx>
      <c:valAx>
        <c:axId val="48672768"/>
        <c:scaling>
          <c:orientation val="minMax"/>
          <c:max val="100"/>
          <c:min val="45"/>
        </c:scaling>
        <c:delete val="0"/>
        <c:axPos val="l"/>
        <c:majorGridlines>
          <c:spPr>
            <a:ln xmlns:a="http://schemas.openxmlformats.org/drawingml/2006/main" w="9525">
              <a:solidFill>
                <a:srgbClr val="EDEDED"/>
              </a:solidFill>
              <a:prstDash val="solid"/>
            </a:ln>
          </c:spPr>
        </c:majorGridlines>
        <c:title>
          <c:tx>
            <c:rich>
              <a:bodyPr xmlns:a="http://schemas.openxmlformats.org/drawingml/2006/main"/>
              <a:lstStyle xmlns:a="http://schemas.openxmlformats.org/drawingml/2006/main"/>
              <a:p xmlns:a="http://schemas.openxmlformats.org/drawingml/2006/main">
                <a:r>
                  <a:rPr sz="1200" b="1">
                    <a:solidFill>
                      <a:srgbClr val="111111"/>
                    </a:solidFill>
                  </a:rPr>
                  <a:t>Micro-F1 (%)</a:t>
                </a:r>
              </a:p>
            </c:rich>
          </c:tx>
          <c:overlay val="0"/>
          <c:txPr>
            <a:bodyPr xmlns:a="http://schemas.openxmlformats.org/drawingml/2006/main" anchorCtr="1"/>
            <a:lstStyle xmlns:a="http://schemas.openxmlformats.org/drawingml/2006/main"/>
            <a:p xmlns:a="http://schemas.openxmlformats.org/drawingml/2006/main">
              <a:pPr>
                <a:defRPr sz="1200" b="1">
                  <a:solidFill>
                    <a:srgbClr val="111111"/>
                  </a:solidFill>
                </a:defRPr>
              </a:pPr>
            </a:p>
          </c:txPr>
        </c:title>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573"/>
                </a:solidFill>
              </a:defRPr>
            </a:pPr>
          </a:p>
        </c:txPr>
        <c:crossAx val="48650112"/>
        <c:crossBetween val="between"/>
        <c:majorUnit val="1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11111"/>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9700D36-0582-4E8B-BD70-71C4AC462E4C}"/>
              </a:ext>
            </a:extLst>
          </p:cNvPr>
          <p:cNvSpPr>
            <a:spLocks xmlns:a="http://schemas.openxmlformats.org/drawingml/2006/main" noGrp="1"/>
          </p:cNvSpPr>
          <p:nvPr/>
        </p:nvSpPr>
        <p:spPr>
          <a:xfrm xmlns:a="http://schemas.openxmlformats.org/drawingml/2006/main">
            <a:off x="590550" y="4572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CONFERENCE PRESENTATION</a:t>
            </a:r>
          </a:p>
        </p:txBody>
      </p:sp>
      <p:sp>
        <p:nvSpPr>
          <p:cNvPr id="2" name="deck-title">
            <a:extLst xmlns:a="http://schemas.openxmlformats.org/drawingml/2006/main">
              <a:ext uri="{FF2B5EF4-FFF2-40B4-BE49-F238E27FC236}">
                <a16:creationId xmlns:a16="http://schemas.microsoft.com/office/drawing/2014/main" id="{5C20733D-CB16-4D19-92B6-92BA37E452EA}"/>
              </a:ext>
            </a:extLst>
          </p:cNvPr>
          <p:cNvSpPr>
            <a:spLocks xmlns:a="http://schemas.openxmlformats.org/drawingml/2006/main" noGrp="1"/>
          </p:cNvSpPr>
          <p:nvPr/>
        </p:nvSpPr>
        <p:spPr>
          <a:xfrm xmlns:a="http://schemas.openxmlformats.org/drawingml/2006/main">
            <a:off x="590550" y="142875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defRPr sz="4650" b="1">
                <a:solidFill>
                  <a:srgbClr val="111111"/>
                </a:solidFill>
                <a:latin typeface="Arial"/>
                <a:ea typeface="Arial"/>
                <a:cs typeface="Arial"/>
              </a:defRPr>
            </a:pPr>
            <a:r>
              <a:rPr sz="4650" b="1">
                <a:solidFill>
                  <a:srgbClr val="111111"/>
                </a:solidFill>
                <a:latin typeface="Arial"/>
                <a:ea typeface="Arial"/>
                <a:cs typeface="Arial"/>
              </a:rPr>
              <a:t>Lightweight Object Detection</a:t>
            </a:r>
          </a:p>
          <a:p xmlns:a="http://schemas.openxmlformats.org/drawingml/2006/main">
            <a:pPr algn="l">
              <a:defRPr sz="4650" b="1">
                <a:solidFill>
                  <a:srgbClr val="111111"/>
                </a:solidFill>
                <a:latin typeface="Arial"/>
                <a:ea typeface="Arial"/>
                <a:cs typeface="Arial"/>
              </a:defRPr>
            </a:pPr>
            <a:r>
              <a:rPr sz="4650" b="1">
                <a:solidFill>
                  <a:srgbClr val="111111"/>
                </a:solidFill>
                <a:latin typeface="Arial"/>
                <a:ea typeface="Arial"/>
                <a:cs typeface="Arial"/>
              </a:rPr>
              <a:t>for Driver Monitoring</a:t>
            </a:r>
          </a:p>
        </p:txBody>
      </p:sp>
      <p:sp>
        <p:nvSpPr>
          <p:cNvPr id="3" name="deck-subtitle">
            <a:extLst xmlns:a="http://schemas.openxmlformats.org/drawingml/2006/main">
              <a:ext uri="{FF2B5EF4-FFF2-40B4-BE49-F238E27FC236}">
                <a16:creationId xmlns:a16="http://schemas.microsoft.com/office/drawing/2014/main" id="{594B4C41-6467-412F-8850-A08CC0012584}"/>
              </a:ext>
            </a:extLst>
          </p:cNvPr>
          <p:cNvSpPr>
            <a:spLocks xmlns:a="http://schemas.openxmlformats.org/drawingml/2006/main" noGrp="1"/>
          </p:cNvSpPr>
          <p:nvPr/>
        </p:nvSpPr>
        <p:spPr>
          <a:xfrm xmlns:a="http://schemas.openxmlformats.org/drawingml/2006/main">
            <a:off x="609600" y="37719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0">
                <a:solidFill>
                  <a:srgbClr val="5B6573"/>
                </a:solidFill>
                <a:latin typeface="Arial"/>
                <a:ea typeface="Arial"/>
                <a:cs typeface="Arial"/>
              </a:defRPr>
            </a:pPr>
            <a:r>
              <a:rPr sz="2250" b="0">
                <a:solidFill>
                  <a:srgbClr val="5B6573"/>
                </a:solidFill>
                <a:latin typeface="Arial"/>
                <a:ea typeface="Arial"/>
                <a:cs typeface="Arial"/>
              </a:rPr>
              <a:t>A subject-disjoint benchmark</a:t>
            </a:r>
          </a:p>
        </p:txBody>
      </p:sp>
      <p:sp>
        <p:nvSpPr>
          <p:cNvPr id="4" name="opening-accent">
            <a:extLst xmlns:a="http://schemas.openxmlformats.org/drawingml/2006/main">
              <a:ext uri="{FF2B5EF4-FFF2-40B4-BE49-F238E27FC236}">
                <a16:creationId xmlns:a16="http://schemas.microsoft.com/office/drawing/2014/main" id="{E0FCAD2D-7092-4D5C-BA37-18318940ADB5}"/>
              </a:ext>
            </a:extLst>
          </p:cNvPr>
          <p:cNvSpPr>
            <a:spLocks xmlns:a="http://schemas.openxmlformats.org/drawingml/2006/main" noGrp="1"/>
          </p:cNvSpPr>
          <p:nvPr/>
        </p:nvSpPr>
        <p:spPr>
          <a:xfrm xmlns:a="http://schemas.openxmlformats.org/drawingml/2006/main">
            <a:off x="9810750" y="0"/>
            <a:ext cx="2381250" cy="6858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opening-accent-strong">
            <a:extLst xmlns:a="http://schemas.openxmlformats.org/drawingml/2006/main">
              <a:ext uri="{FF2B5EF4-FFF2-40B4-BE49-F238E27FC236}">
                <a16:creationId xmlns:a16="http://schemas.microsoft.com/office/drawing/2014/main" id="{D3459B91-BA60-4461-8A2F-D17D6A835D6F}"/>
              </a:ext>
            </a:extLst>
          </p:cNvPr>
          <p:cNvSpPr>
            <a:spLocks xmlns:a="http://schemas.openxmlformats.org/drawingml/2006/main" noGrp="1"/>
          </p:cNvSpPr>
          <p:nvPr/>
        </p:nvSpPr>
        <p:spPr>
          <a:xfrm xmlns:a="http://schemas.openxmlformats.org/drawingml/2006/main">
            <a:off x="9810750" y="0"/>
            <a:ext cx="1714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authors">
            <a:extLst xmlns:a="http://schemas.openxmlformats.org/drawingml/2006/main">
              <a:ext uri="{FF2B5EF4-FFF2-40B4-BE49-F238E27FC236}">
                <a16:creationId xmlns:a16="http://schemas.microsoft.com/office/drawing/2014/main" id="{BDB3F40A-88E9-410F-A613-4C829A749FA1}"/>
              </a:ext>
            </a:extLst>
          </p:cNvPr>
          <p:cNvSpPr>
            <a:spLocks xmlns:a="http://schemas.openxmlformats.org/drawingml/2006/main" noGrp="1"/>
          </p:cNvSpPr>
          <p:nvPr/>
        </p:nvSpPr>
        <p:spPr>
          <a:xfrm xmlns:a="http://schemas.openxmlformats.org/drawingml/2006/main">
            <a:off x="609600" y="521970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0">
                <a:solidFill>
                  <a:srgbClr val="5B6573"/>
                </a:solidFill>
                <a:latin typeface="Arial"/>
                <a:ea typeface="Arial"/>
                <a:cs typeface="Arial"/>
              </a:defRPr>
            </a:pPr>
            <a:r>
              <a:rPr sz="1650" b="0">
                <a:solidFill>
                  <a:srgbClr val="5B6573"/>
                </a:solidFill>
                <a:latin typeface="Arial"/>
                <a:ea typeface="Arial"/>
                <a:cs typeface="Arial"/>
              </a:rPr>
              <a:t>Oumar Mamoun Ibrahim · Mohamad Khairi bin Ishak</a:t>
            </a:r>
          </a:p>
          <a:p xmlns:a="http://schemas.openxmlformats.org/drawingml/2006/main">
            <a:pPr algn="l">
              <a:defRPr sz="1650" b="0">
                <a:solidFill>
                  <a:srgbClr val="5B6573"/>
                </a:solidFill>
                <a:latin typeface="Arial"/>
                <a:ea typeface="Arial"/>
                <a:cs typeface="Arial"/>
              </a:defRPr>
            </a:pPr>
            <a:r>
              <a:rPr sz="1650" b="0">
                <a:solidFill>
                  <a:srgbClr val="5B6573"/>
                </a:solidFill>
                <a:latin typeface="Arial"/>
                <a:ea typeface="Arial"/>
                <a:cs typeface="Arial"/>
              </a:rPr>
              <a:t>Khalid Ammar · Nada Masood Mirza</a:t>
            </a:r>
          </a:p>
        </p:txBody>
      </p:sp>
    </p:spTree>
    <p:extLst>
      <p:ext uri="{BB962C8B-B14F-4D97-AF65-F5344CB8AC3E}">
        <p14:creationId xmlns:p14="http://schemas.microsoft.com/office/powerpoint/2010/main" val="8800826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2">
            <a:extLst xmlns:a="http://schemas.openxmlformats.org/drawingml/2006/main">
              <a:ext uri="{FF2B5EF4-FFF2-40B4-BE49-F238E27FC236}">
                <a16:creationId xmlns:a16="http://schemas.microsoft.com/office/drawing/2014/main" id="{2ADA5000-8080-41CF-BF85-E0F2B4472995}"/>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Reliable cues must generalize to unseen drivers</a:t>
            </a:r>
          </a:p>
        </p:txBody>
      </p:sp>
      <p:sp>
        <p:nvSpPr>
          <p:cNvPr id="2" name="title-rule-2">
            <a:extLst xmlns:a="http://schemas.openxmlformats.org/drawingml/2006/main">
              <a:ext uri="{FF2B5EF4-FFF2-40B4-BE49-F238E27FC236}">
                <a16:creationId xmlns:a16="http://schemas.microsoft.com/office/drawing/2014/main" id="{FBCA68E5-C79E-41EE-9BBA-E81FA0947539}"/>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2">
            <a:extLst xmlns:a="http://schemas.openxmlformats.org/drawingml/2006/main">
              <a:ext uri="{FF2B5EF4-FFF2-40B4-BE49-F238E27FC236}">
                <a16:creationId xmlns:a16="http://schemas.microsoft.com/office/drawing/2014/main" id="{52D68BA7-2052-4CF7-ACB5-0C016EE64729}"/>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2</a:t>
            </a:r>
          </a:p>
        </p:txBody>
      </p:sp>
      <p:sp>
        <p:nvSpPr>
          <p:cNvPr id="4" name="purpose-lead">
            <a:extLst xmlns:a="http://schemas.openxmlformats.org/drawingml/2006/main">
              <a:ext uri="{FF2B5EF4-FFF2-40B4-BE49-F238E27FC236}">
                <a16:creationId xmlns:a16="http://schemas.microsoft.com/office/drawing/2014/main" id="{0405F396-7059-4EEE-B6AC-CCABC624C357}"/>
              </a:ext>
            </a:extLst>
          </p:cNvPr>
          <p:cNvSpPr>
            <a:spLocks xmlns:a="http://schemas.openxmlformats.org/drawingml/2006/main" noGrp="1"/>
          </p:cNvSpPr>
          <p:nvPr/>
        </p:nvSpPr>
        <p:spPr>
          <a:xfrm xmlns:a="http://schemas.openxmlformats.org/drawingml/2006/main">
            <a:off x="571500" y="1952625"/>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Identity should not</a:t>
            </a:r>
          </a:p>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become a shortcut.</a:t>
            </a:r>
          </a:p>
        </p:txBody>
      </p:sp>
      <p:sp>
        <p:nvSpPr>
          <p:cNvPr id="5" name="purpose-points">
            <a:extLst xmlns:a="http://schemas.openxmlformats.org/drawingml/2006/main">
              <a:ext uri="{FF2B5EF4-FFF2-40B4-BE49-F238E27FC236}">
                <a16:creationId xmlns:a16="http://schemas.microsoft.com/office/drawing/2014/main" id="{45CA55B3-8839-48ED-8704-97C81CAE58E3}"/>
              </a:ext>
            </a:extLst>
          </p:cNvPr>
          <p:cNvSpPr>
            <a:spLocks xmlns:a="http://schemas.openxmlformats.org/drawingml/2006/main" noGrp="1"/>
          </p:cNvSpPr>
          <p:nvPr/>
        </p:nvSpPr>
        <p:spPr>
          <a:xfrm xmlns:a="http://schemas.openxmlformats.org/drawingml/2006/main">
            <a:off x="590550" y="41910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0">
                <a:solidFill>
                  <a:srgbClr val="5B6573"/>
                </a:solidFill>
                <a:latin typeface="Arial"/>
                <a:ea typeface="Arial"/>
                <a:cs typeface="Arial"/>
              </a:defRPr>
            </a:pPr>
            <a:r>
              <a:rPr sz="1875" b="0">
                <a:solidFill>
                  <a:srgbClr val="5B6573"/>
                </a:solidFill>
                <a:latin typeface="Arial"/>
                <a:ea typeface="Arial"/>
                <a:cs typeface="Arial"/>
              </a:rPr>
              <a:t>Detection localizes the evidence</a:t>
            </a:r>
          </a:p>
          <a:p xmlns:a="http://schemas.openxmlformats.org/drawingml/2006/main">
            <a:pPr algn="l">
              <a:defRPr sz="1875" b="0">
                <a:solidFill>
                  <a:srgbClr val="5B6573"/>
                </a:solidFill>
                <a:latin typeface="Arial"/>
                <a:ea typeface="Arial"/>
                <a:cs typeface="Arial"/>
              </a:defRPr>
            </a:pPr>
            <a:r>
              <a:rPr sz="1875" b="0">
                <a:solidFill>
                  <a:srgbClr val="5B6573"/>
                </a:solidFill>
                <a:latin typeface="Arial"/>
                <a:ea typeface="Arial"/>
                <a:cs typeface="Arial"/>
              </a:rPr>
              <a:t>Exposes misses and false alarms</a:t>
            </a:r>
          </a:p>
          <a:p xmlns:a="http://schemas.openxmlformats.org/drawingml/2006/main">
            <a:pPr algn="l">
              <a:defRPr sz="1875" b="0">
                <a:solidFill>
                  <a:srgbClr val="5B6573"/>
                </a:solidFill>
                <a:latin typeface="Arial"/>
                <a:ea typeface="Arial"/>
                <a:cs typeface="Arial"/>
              </a:defRPr>
            </a:pPr>
            <a:r>
              <a:rPr sz="1875" b="0">
                <a:solidFill>
                  <a:srgbClr val="5B6573"/>
                </a:solidFill>
                <a:latin typeface="Arial"/>
                <a:ea typeface="Arial"/>
                <a:cs typeface="Arial"/>
              </a:rPr>
              <a:t>Supports real-time deployment</a:t>
            </a:r>
          </a:p>
        </p:txBody>
      </p:sp>
      <p:sp>
        <p:nvSpPr>
          <p:cNvPr id="6" name="purpose-image-bg">
            <a:extLst xmlns:a="http://schemas.openxmlformats.org/drawingml/2006/main">
              <a:ext uri="{FF2B5EF4-FFF2-40B4-BE49-F238E27FC236}">
                <a16:creationId xmlns:a16="http://schemas.microsoft.com/office/drawing/2014/main" id="{55470DA9-F80E-46B4-BF67-236F246396B3}"/>
              </a:ext>
            </a:extLst>
          </p:cNvPr>
          <p:cNvSpPr>
            <a:spLocks xmlns:a="http://schemas.openxmlformats.org/drawingml/2006/main" noGrp="1"/>
          </p:cNvSpPr>
          <p:nvPr/>
        </p:nvSpPr>
        <p:spPr>
          <a:xfrm xmlns:a="http://schemas.openxmlformats.org/drawingml/2006/main">
            <a:off x="6191250" y="1428750"/>
            <a:ext cx="5143500" cy="4762500"/>
          </a:xfrm>
          <a:prstGeom xmlns:a="http://schemas.openxmlformats.org/drawingml/2006/main" prst="rect">
            <a:avLst/>
          </a:prstGeom>
          <a:solidFill xmlns:a="http://schemas.openxmlformats.org/drawingml/2006/main">
            <a:srgbClr val="F5F7FA"/>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d7c8ece38df4326"/>
          <a:stretch xmlns:a="http://schemas.openxmlformats.org/drawingml/2006/main"/>
        </p:blipFill>
        <p:spPr>
          <a:xfrm xmlns:a="http://schemas.openxmlformats.org/drawingml/2006/main">
            <a:off x="6559749" y="1619250"/>
            <a:ext cx="4406501" cy="4381500"/>
          </a:xfrm>
          <a:prstGeom xmlns:a="http://schemas.openxmlformats.org/drawingml/2006/main" prst="rect">
            <a:avLst/>
          </a:prstGeom>
        </p:spPr>
      </p:pic>
    </p:spTree>
    <p:extLst>
      <p:ext uri="{BB962C8B-B14F-4D97-AF65-F5344CB8AC3E}">
        <p14:creationId xmlns:p14="http://schemas.microsoft.com/office/powerpoint/2010/main" val="8732644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3">
            <a:extLst xmlns:a="http://schemas.openxmlformats.org/drawingml/2006/main">
              <a:ext uri="{FF2B5EF4-FFF2-40B4-BE49-F238E27FC236}">
                <a16:creationId xmlns:a16="http://schemas.microsoft.com/office/drawing/2014/main" id="{188AF1BE-042E-452F-95BB-E57459199A8E}"/>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Comparisons often blur the deployment question</a:t>
            </a:r>
          </a:p>
        </p:txBody>
      </p:sp>
      <p:sp>
        <p:nvSpPr>
          <p:cNvPr id="2" name="title-rule-3">
            <a:extLst xmlns:a="http://schemas.openxmlformats.org/drawingml/2006/main">
              <a:ext uri="{FF2B5EF4-FFF2-40B4-BE49-F238E27FC236}">
                <a16:creationId xmlns:a16="http://schemas.microsoft.com/office/drawing/2014/main" id="{BBB539E8-AB90-4D4B-A091-850B4345E464}"/>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3">
            <a:extLst xmlns:a="http://schemas.openxmlformats.org/drawingml/2006/main">
              <a:ext uri="{FF2B5EF4-FFF2-40B4-BE49-F238E27FC236}">
                <a16:creationId xmlns:a16="http://schemas.microsoft.com/office/drawing/2014/main" id="{A2F1DBB1-179B-4A73-83A8-5BE4F061ECCE}"/>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2fd82c9ece34757"/>
          <a:stretch xmlns:a="http://schemas.openxmlformats.org/drawingml/2006/main"/>
        </p:blipFill>
        <p:spPr>
          <a:xfrm xmlns:a="http://schemas.openxmlformats.org/drawingml/2006/main">
            <a:off x="609600" y="1625220"/>
            <a:ext cx="4191000" cy="4179060"/>
          </a:xfrm>
          <a:prstGeom xmlns:a="http://schemas.openxmlformats.org/drawingml/2006/main" prst="rect">
            <a:avLst/>
          </a:prstGeom>
        </p:spPr>
      </p:pic>
      <p:sp>
        <p:nvSpPr>
          <p:cNvPr id="5" name="context-one">
            <a:extLst xmlns:a="http://schemas.openxmlformats.org/drawingml/2006/main">
              <a:ext uri="{FF2B5EF4-FFF2-40B4-BE49-F238E27FC236}">
                <a16:creationId xmlns:a16="http://schemas.microsoft.com/office/drawing/2014/main" id="{03656899-99E2-4A93-87EA-380EBD3D1F62}"/>
              </a:ext>
            </a:extLst>
          </p:cNvPr>
          <p:cNvSpPr>
            <a:spLocks xmlns:a="http://schemas.openxmlformats.org/drawingml/2006/main" noGrp="1"/>
          </p:cNvSpPr>
          <p:nvPr/>
        </p:nvSpPr>
        <p:spPr>
          <a:xfrm xmlns:a="http://schemas.openxmlformats.org/drawingml/2006/main">
            <a:off x="5381625" y="1666875"/>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Whole-frame recognition</a:t>
            </a:r>
          </a:p>
        </p:txBody>
      </p:sp>
      <p:sp>
        <p:nvSpPr>
          <p:cNvPr id="6" name="context-one-body">
            <a:extLst xmlns:a="http://schemas.openxmlformats.org/drawingml/2006/main">
              <a:ext uri="{FF2B5EF4-FFF2-40B4-BE49-F238E27FC236}">
                <a16:creationId xmlns:a16="http://schemas.microsoft.com/office/drawing/2014/main" id="{9DC77429-5CAF-455D-B83B-A47BD6932A22}"/>
              </a:ext>
            </a:extLst>
          </p:cNvPr>
          <p:cNvSpPr>
            <a:spLocks xmlns:a="http://schemas.openxmlformats.org/drawingml/2006/main" noGrp="1"/>
          </p:cNvSpPr>
          <p:nvPr/>
        </p:nvSpPr>
        <p:spPr>
          <a:xfrm xmlns:a="http://schemas.openxmlformats.org/drawingml/2006/main">
            <a:off x="5381625" y="2095500"/>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0">
                <a:solidFill>
                  <a:srgbClr val="5B6573"/>
                </a:solidFill>
                <a:latin typeface="Arial"/>
                <a:ea typeface="Arial"/>
                <a:cs typeface="Arial"/>
              </a:defRPr>
            </a:pPr>
            <a:r>
              <a:rPr sz="1650" b="0">
                <a:solidFill>
                  <a:srgbClr val="5B6573"/>
                </a:solidFill>
                <a:latin typeface="Arial"/>
                <a:ea typeface="Arial"/>
                <a:cs typeface="Arial"/>
              </a:rPr>
              <a:t>Efficient activity labels—but spatial evidence can remain implicit.</a:t>
            </a:r>
          </a:p>
        </p:txBody>
      </p:sp>
      <p:sp>
        <p:nvSpPr>
          <p:cNvPr id="7" name="context-rule-1">
            <a:extLst xmlns:a="http://schemas.openxmlformats.org/drawingml/2006/main">
              <a:ext uri="{FF2B5EF4-FFF2-40B4-BE49-F238E27FC236}">
                <a16:creationId xmlns:a16="http://schemas.microsoft.com/office/drawing/2014/main" id="{8688D4AD-0109-4B46-8BF5-9F020311FF7E}"/>
              </a:ext>
            </a:extLst>
          </p:cNvPr>
          <p:cNvSpPr>
            <a:spLocks xmlns:a="http://schemas.openxmlformats.org/drawingml/2006/main" noGrp="1"/>
          </p:cNvSpPr>
          <p:nvPr/>
        </p:nvSpPr>
        <p:spPr>
          <a:xfrm xmlns:a="http://schemas.openxmlformats.org/drawingml/2006/main">
            <a:off x="5381625" y="2914650"/>
            <a:ext cx="5715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context-two">
            <a:extLst xmlns:a="http://schemas.openxmlformats.org/drawingml/2006/main">
              <a:ext uri="{FF2B5EF4-FFF2-40B4-BE49-F238E27FC236}">
                <a16:creationId xmlns:a16="http://schemas.microsoft.com/office/drawing/2014/main" id="{79586619-80A6-4044-922C-A5C72C3889D1}"/>
              </a:ext>
            </a:extLst>
          </p:cNvPr>
          <p:cNvSpPr>
            <a:spLocks xmlns:a="http://schemas.openxmlformats.org/drawingml/2006/main" noGrp="1"/>
          </p:cNvSpPr>
          <p:nvPr/>
        </p:nvSpPr>
        <p:spPr>
          <a:xfrm xmlns:a="http://schemas.openxmlformats.org/drawingml/2006/main">
            <a:off x="5381625" y="31432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Specialized detectors</a:t>
            </a:r>
          </a:p>
        </p:txBody>
      </p:sp>
      <p:sp>
        <p:nvSpPr>
          <p:cNvPr id="9" name="context-two-body">
            <a:extLst xmlns:a="http://schemas.openxmlformats.org/drawingml/2006/main">
              <a:ext uri="{FF2B5EF4-FFF2-40B4-BE49-F238E27FC236}">
                <a16:creationId xmlns:a16="http://schemas.microsoft.com/office/drawing/2014/main" id="{2C9F35AF-A13D-4DBA-8077-165448735E6E}"/>
              </a:ext>
            </a:extLst>
          </p:cNvPr>
          <p:cNvSpPr>
            <a:spLocks xmlns:a="http://schemas.openxmlformats.org/drawingml/2006/main" noGrp="1"/>
          </p:cNvSpPr>
          <p:nvPr/>
        </p:nvSpPr>
        <p:spPr>
          <a:xfrm xmlns:a="http://schemas.openxmlformats.org/drawingml/2006/main">
            <a:off x="5381625" y="3571875"/>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0">
                <a:solidFill>
                  <a:srgbClr val="5B6573"/>
                </a:solidFill>
                <a:latin typeface="Arial"/>
                <a:ea typeface="Arial"/>
                <a:cs typeface="Arial"/>
              </a:defRPr>
            </a:pPr>
            <a:r>
              <a:rPr sz="1650" b="0">
                <a:solidFill>
                  <a:srgbClr val="5B6573"/>
                </a:solidFill>
                <a:latin typeface="Arial"/>
                <a:ea typeface="Arial"/>
                <a:cs typeface="Arial"/>
              </a:rPr>
              <a:t>Many architectures; different splits, negatives, thresholds, and timing boundaries.</a:t>
            </a:r>
          </a:p>
        </p:txBody>
      </p:sp>
      <p:sp>
        <p:nvSpPr>
          <p:cNvPr id="10" name="context-rule-2">
            <a:extLst xmlns:a="http://schemas.openxmlformats.org/drawingml/2006/main">
              <a:ext uri="{FF2B5EF4-FFF2-40B4-BE49-F238E27FC236}">
                <a16:creationId xmlns:a16="http://schemas.microsoft.com/office/drawing/2014/main" id="{5BB6C74C-8182-4621-979A-BEF6B050A271}"/>
              </a:ext>
            </a:extLst>
          </p:cNvPr>
          <p:cNvSpPr>
            <a:spLocks xmlns:a="http://schemas.openxmlformats.org/drawingml/2006/main" noGrp="1"/>
          </p:cNvSpPr>
          <p:nvPr/>
        </p:nvSpPr>
        <p:spPr>
          <a:xfrm xmlns:a="http://schemas.openxmlformats.org/drawingml/2006/main">
            <a:off x="5381625" y="4448175"/>
            <a:ext cx="5715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context-three">
            <a:extLst xmlns:a="http://schemas.openxmlformats.org/drawingml/2006/main">
              <a:ext uri="{FF2B5EF4-FFF2-40B4-BE49-F238E27FC236}">
                <a16:creationId xmlns:a16="http://schemas.microsoft.com/office/drawing/2014/main" id="{6DB789C3-E4C9-4022-A667-55D5EA50ACFF}"/>
              </a:ext>
            </a:extLst>
          </p:cNvPr>
          <p:cNvSpPr>
            <a:spLocks xmlns:a="http://schemas.openxmlformats.org/drawingml/2006/main" noGrp="1"/>
          </p:cNvSpPr>
          <p:nvPr/>
        </p:nvSpPr>
        <p:spPr>
          <a:xfrm xmlns:a="http://schemas.openxmlformats.org/drawingml/2006/main">
            <a:off x="5381625" y="46863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The missing controlled comparison</a:t>
            </a:r>
          </a:p>
        </p:txBody>
      </p:sp>
      <p:sp>
        <p:nvSpPr>
          <p:cNvPr id="12" name="context-three-body">
            <a:extLst xmlns:a="http://schemas.openxmlformats.org/drawingml/2006/main">
              <a:ext uri="{FF2B5EF4-FFF2-40B4-BE49-F238E27FC236}">
                <a16:creationId xmlns:a16="http://schemas.microsoft.com/office/drawing/2014/main" id="{51B1B0C6-6809-4F21-B5A0-D5BCE74DAE71}"/>
              </a:ext>
            </a:extLst>
          </p:cNvPr>
          <p:cNvSpPr>
            <a:spLocks xmlns:a="http://schemas.openxmlformats.org/drawingml/2006/main" noGrp="1"/>
          </p:cNvSpPr>
          <p:nvPr/>
        </p:nvSpPr>
        <p:spPr>
          <a:xfrm xmlns:a="http://schemas.openxmlformats.org/drawingml/2006/main">
            <a:off x="5381625" y="5114925"/>
            <a:ext cx="561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0">
                <a:solidFill>
                  <a:srgbClr val="5B6573"/>
                </a:solidFill>
                <a:latin typeface="Arial"/>
                <a:ea typeface="Arial"/>
                <a:cs typeface="Arial"/>
              </a:defRPr>
            </a:pPr>
            <a:r>
              <a:rPr sz="1650" b="0">
                <a:solidFill>
                  <a:srgbClr val="5B6573"/>
                </a:solidFill>
                <a:latin typeface="Arial"/>
                <a:ea typeface="Arial"/>
                <a:cs typeface="Arial"/>
              </a:rPr>
              <a:t>Subject-disjoint testing + validation-only thresholds + all negative frames + synchronized latency.</a:t>
            </a:r>
          </a:p>
        </p:txBody>
      </p:sp>
    </p:spTree>
    <p:extLst>
      <p:ext uri="{BB962C8B-B14F-4D97-AF65-F5344CB8AC3E}">
        <p14:creationId xmlns:p14="http://schemas.microsoft.com/office/powerpoint/2010/main" val="15958309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4">
            <a:extLst xmlns:a="http://schemas.openxmlformats.org/drawingml/2006/main">
              <a:ext uri="{FF2B5EF4-FFF2-40B4-BE49-F238E27FC236}">
                <a16:creationId xmlns:a16="http://schemas.microsoft.com/office/drawing/2014/main" id="{6AD1DA7A-B50D-4E5F-9DE2-31597CDEA597}"/>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A controlled RGB benchmark anchors the study</a:t>
            </a:r>
          </a:p>
        </p:txBody>
      </p:sp>
      <p:sp>
        <p:nvSpPr>
          <p:cNvPr id="2" name="title-rule-4">
            <a:extLst xmlns:a="http://schemas.openxmlformats.org/drawingml/2006/main">
              <a:ext uri="{FF2B5EF4-FFF2-40B4-BE49-F238E27FC236}">
                <a16:creationId xmlns:a16="http://schemas.microsoft.com/office/drawing/2014/main" id="{B82CEED4-908C-467D-ADD9-5FA7C069FD1C}"/>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4">
            <a:extLst xmlns:a="http://schemas.openxmlformats.org/drawingml/2006/main">
              <a:ext uri="{FF2B5EF4-FFF2-40B4-BE49-F238E27FC236}">
                <a16:creationId xmlns:a16="http://schemas.microsoft.com/office/drawing/2014/main" id="{D6438A24-A914-46C8-9341-DB36798F9294}"/>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4</a:t>
            </a:r>
          </a:p>
        </p:txBody>
      </p:sp>
      <p:sp>
        <p:nvSpPr>
          <p:cNvPr id="4" name="metric-frames">
            <a:extLst xmlns:a="http://schemas.openxmlformats.org/drawingml/2006/main">
              <a:ext uri="{FF2B5EF4-FFF2-40B4-BE49-F238E27FC236}">
                <a16:creationId xmlns:a16="http://schemas.microsoft.com/office/drawing/2014/main" id="{73B06244-4E91-4761-8B9E-7E25ED11941F}"/>
              </a:ext>
            </a:extLst>
          </p:cNvPr>
          <p:cNvSpPr>
            <a:spLocks xmlns:a="http://schemas.openxmlformats.org/drawingml/2006/main" noGrp="1"/>
          </p:cNvSpPr>
          <p:nvPr/>
        </p:nvSpPr>
        <p:spPr>
          <a:xfrm xmlns:a="http://schemas.openxmlformats.org/drawingml/2006/main">
            <a:off x="666750" y="24574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4350" b="1">
                <a:solidFill>
                  <a:srgbClr val="3D8DFF"/>
                </a:solidFill>
                <a:latin typeface="Arial"/>
                <a:ea typeface="Arial"/>
                <a:cs typeface="Arial"/>
              </a:defRPr>
            </a:pPr>
            <a:r>
              <a:rPr sz="4350" b="1">
                <a:solidFill>
                  <a:srgbClr val="3D8DFF"/>
                </a:solidFill>
                <a:latin typeface="Arial"/>
                <a:ea typeface="Arial"/>
                <a:cs typeface="Arial"/>
              </a:rPr>
              <a:t>15,723</a:t>
            </a:r>
          </a:p>
        </p:txBody>
      </p:sp>
      <p:sp>
        <p:nvSpPr>
          <p:cNvPr id="5" name="metric-label-frames">
            <a:extLst xmlns:a="http://schemas.openxmlformats.org/drawingml/2006/main">
              <a:ext uri="{FF2B5EF4-FFF2-40B4-BE49-F238E27FC236}">
                <a16:creationId xmlns:a16="http://schemas.microsoft.com/office/drawing/2014/main" id="{29FE6878-FA09-41D9-8B59-F4FB93EE2FCC}"/>
              </a:ext>
            </a:extLst>
          </p:cNvPr>
          <p:cNvSpPr>
            <a:spLocks xmlns:a="http://schemas.openxmlformats.org/drawingml/2006/main" noGrp="1"/>
          </p:cNvSpPr>
          <p:nvPr/>
        </p:nvSpPr>
        <p:spPr>
          <a:xfrm xmlns:a="http://schemas.openxmlformats.org/drawingml/2006/main">
            <a:off x="666750" y="340995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00" b="1">
                <a:solidFill>
                  <a:srgbClr val="111111"/>
                </a:solidFill>
                <a:latin typeface="Arial"/>
                <a:ea typeface="Arial"/>
                <a:cs typeface="Arial"/>
              </a:defRPr>
            </a:pPr>
            <a:r>
              <a:rPr sz="1800" b="1">
                <a:solidFill>
                  <a:srgbClr val="111111"/>
                </a:solidFill>
                <a:latin typeface="Arial"/>
                <a:ea typeface="Arial"/>
                <a:cs typeface="Arial"/>
              </a:rPr>
              <a:t>frames</a:t>
            </a:r>
          </a:p>
        </p:txBody>
      </p:sp>
      <p:sp>
        <p:nvSpPr>
          <p:cNvPr id="6" name="metric-divider-1">
            <a:extLst xmlns:a="http://schemas.openxmlformats.org/drawingml/2006/main">
              <a:ext uri="{FF2B5EF4-FFF2-40B4-BE49-F238E27FC236}">
                <a16:creationId xmlns:a16="http://schemas.microsoft.com/office/drawing/2014/main" id="{B6314563-39BB-4219-A17E-BD4AAEB84EDA}"/>
              </a:ext>
            </a:extLst>
          </p:cNvPr>
          <p:cNvSpPr>
            <a:spLocks xmlns:a="http://schemas.openxmlformats.org/drawingml/2006/main" noGrp="1"/>
          </p:cNvSpPr>
          <p:nvPr/>
        </p:nvSpPr>
        <p:spPr>
          <a:xfrm xmlns:a="http://schemas.openxmlformats.org/drawingml/2006/main">
            <a:off x="3333750" y="2333625"/>
            <a:ext cx="9525" cy="21431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metric-drivers">
            <a:extLst xmlns:a="http://schemas.openxmlformats.org/drawingml/2006/main">
              <a:ext uri="{FF2B5EF4-FFF2-40B4-BE49-F238E27FC236}">
                <a16:creationId xmlns:a16="http://schemas.microsoft.com/office/drawing/2014/main" id="{0E6B23F8-5449-47C8-AAAC-09E108F8FD6D}"/>
              </a:ext>
            </a:extLst>
          </p:cNvPr>
          <p:cNvSpPr>
            <a:spLocks xmlns:a="http://schemas.openxmlformats.org/drawingml/2006/main" noGrp="1"/>
          </p:cNvSpPr>
          <p:nvPr/>
        </p:nvSpPr>
        <p:spPr>
          <a:xfrm xmlns:a="http://schemas.openxmlformats.org/drawingml/2006/main">
            <a:off x="3524250" y="24574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4350" b="1">
                <a:solidFill>
                  <a:srgbClr val="009E73"/>
                </a:solidFill>
                <a:latin typeface="Arial"/>
                <a:ea typeface="Arial"/>
                <a:cs typeface="Arial"/>
              </a:defRPr>
            </a:pPr>
            <a:r>
              <a:rPr sz="4350" b="1">
                <a:solidFill>
                  <a:srgbClr val="009E73"/>
                </a:solidFill>
                <a:latin typeface="Arial"/>
                <a:ea typeface="Arial"/>
                <a:cs typeface="Arial"/>
              </a:rPr>
              <a:t>14</a:t>
            </a:r>
          </a:p>
        </p:txBody>
      </p:sp>
      <p:sp>
        <p:nvSpPr>
          <p:cNvPr id="8" name="metric-label-drivers">
            <a:extLst xmlns:a="http://schemas.openxmlformats.org/drawingml/2006/main">
              <a:ext uri="{FF2B5EF4-FFF2-40B4-BE49-F238E27FC236}">
                <a16:creationId xmlns:a16="http://schemas.microsoft.com/office/drawing/2014/main" id="{A6987E2B-B88D-4C17-B676-D0263C5933A7}"/>
              </a:ext>
            </a:extLst>
          </p:cNvPr>
          <p:cNvSpPr>
            <a:spLocks xmlns:a="http://schemas.openxmlformats.org/drawingml/2006/main" noGrp="1"/>
          </p:cNvSpPr>
          <p:nvPr/>
        </p:nvSpPr>
        <p:spPr>
          <a:xfrm xmlns:a="http://schemas.openxmlformats.org/drawingml/2006/main">
            <a:off x="3524250" y="340995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00" b="1">
                <a:solidFill>
                  <a:srgbClr val="111111"/>
                </a:solidFill>
                <a:latin typeface="Arial"/>
                <a:ea typeface="Arial"/>
                <a:cs typeface="Arial"/>
              </a:defRPr>
            </a:pPr>
            <a:r>
              <a:rPr sz="1800" b="1">
                <a:solidFill>
                  <a:srgbClr val="111111"/>
                </a:solidFill>
                <a:latin typeface="Arial"/>
                <a:ea typeface="Arial"/>
                <a:cs typeface="Arial"/>
              </a:rPr>
              <a:t>drivers</a:t>
            </a:r>
          </a:p>
        </p:txBody>
      </p:sp>
      <p:sp>
        <p:nvSpPr>
          <p:cNvPr id="9" name="metric-divider-2">
            <a:extLst xmlns:a="http://schemas.openxmlformats.org/drawingml/2006/main">
              <a:ext uri="{FF2B5EF4-FFF2-40B4-BE49-F238E27FC236}">
                <a16:creationId xmlns:a16="http://schemas.microsoft.com/office/drawing/2014/main" id="{1A7E16D8-5487-48E5-A3AE-CF7656985D71}"/>
              </a:ext>
            </a:extLst>
          </p:cNvPr>
          <p:cNvSpPr>
            <a:spLocks xmlns:a="http://schemas.openxmlformats.org/drawingml/2006/main" noGrp="1"/>
          </p:cNvSpPr>
          <p:nvPr/>
        </p:nvSpPr>
        <p:spPr>
          <a:xfrm xmlns:a="http://schemas.openxmlformats.org/drawingml/2006/main">
            <a:off x="6191250" y="2333625"/>
            <a:ext cx="9525" cy="21431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metric-visible cues">
            <a:extLst xmlns:a="http://schemas.openxmlformats.org/drawingml/2006/main">
              <a:ext uri="{FF2B5EF4-FFF2-40B4-BE49-F238E27FC236}">
                <a16:creationId xmlns:a16="http://schemas.microsoft.com/office/drawing/2014/main" id="{50384B82-8998-4D68-8441-177228542DC2}"/>
              </a:ext>
            </a:extLst>
          </p:cNvPr>
          <p:cNvSpPr>
            <a:spLocks xmlns:a="http://schemas.openxmlformats.org/drawingml/2006/main" noGrp="1"/>
          </p:cNvSpPr>
          <p:nvPr/>
        </p:nvSpPr>
        <p:spPr>
          <a:xfrm xmlns:a="http://schemas.openxmlformats.org/drawingml/2006/main">
            <a:off x="6381750" y="24574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4350" b="1">
                <a:solidFill>
                  <a:srgbClr val="D55E00"/>
                </a:solidFill>
                <a:latin typeface="Arial"/>
                <a:ea typeface="Arial"/>
                <a:cs typeface="Arial"/>
              </a:defRPr>
            </a:pPr>
            <a:r>
              <a:rPr sz="4350" b="1">
                <a:solidFill>
                  <a:srgbClr val="D55E00"/>
                </a:solidFill>
                <a:latin typeface="Arial"/>
                <a:ea typeface="Arial"/>
                <a:cs typeface="Arial"/>
              </a:rPr>
              <a:t>4</a:t>
            </a:r>
          </a:p>
        </p:txBody>
      </p:sp>
      <p:sp>
        <p:nvSpPr>
          <p:cNvPr id="11" name="metric-label-visible cues">
            <a:extLst xmlns:a="http://schemas.openxmlformats.org/drawingml/2006/main">
              <a:ext uri="{FF2B5EF4-FFF2-40B4-BE49-F238E27FC236}">
                <a16:creationId xmlns:a16="http://schemas.microsoft.com/office/drawing/2014/main" id="{0737E960-9F81-4E47-AFBE-40E4F2DCB1F8}"/>
              </a:ext>
            </a:extLst>
          </p:cNvPr>
          <p:cNvSpPr>
            <a:spLocks xmlns:a="http://schemas.openxmlformats.org/drawingml/2006/main" noGrp="1"/>
          </p:cNvSpPr>
          <p:nvPr/>
        </p:nvSpPr>
        <p:spPr>
          <a:xfrm xmlns:a="http://schemas.openxmlformats.org/drawingml/2006/main">
            <a:off x="6381750" y="340995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00" b="1">
                <a:solidFill>
                  <a:srgbClr val="111111"/>
                </a:solidFill>
                <a:latin typeface="Arial"/>
                <a:ea typeface="Arial"/>
                <a:cs typeface="Arial"/>
              </a:defRPr>
            </a:pPr>
            <a:r>
              <a:rPr sz="1800" b="1">
                <a:solidFill>
                  <a:srgbClr val="111111"/>
                </a:solidFill>
                <a:latin typeface="Arial"/>
                <a:ea typeface="Arial"/>
                <a:cs typeface="Arial"/>
              </a:rPr>
              <a:t>visible cues</a:t>
            </a:r>
          </a:p>
        </p:txBody>
      </p:sp>
      <p:sp>
        <p:nvSpPr>
          <p:cNvPr id="12" name="metric-divider-3">
            <a:extLst xmlns:a="http://schemas.openxmlformats.org/drawingml/2006/main">
              <a:ext uri="{FF2B5EF4-FFF2-40B4-BE49-F238E27FC236}">
                <a16:creationId xmlns:a16="http://schemas.microsoft.com/office/drawing/2014/main" id="{34783E57-8F22-42A3-A6E5-6615B3701875}"/>
              </a:ext>
            </a:extLst>
          </p:cNvPr>
          <p:cNvSpPr>
            <a:spLocks xmlns:a="http://schemas.openxmlformats.org/drawingml/2006/main" noGrp="1"/>
          </p:cNvSpPr>
          <p:nvPr/>
        </p:nvSpPr>
        <p:spPr>
          <a:xfrm xmlns:a="http://schemas.openxmlformats.org/drawingml/2006/main">
            <a:off x="9048750" y="2333625"/>
            <a:ext cx="9525" cy="21431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metric-paired seeds">
            <a:extLst xmlns:a="http://schemas.openxmlformats.org/drawingml/2006/main">
              <a:ext uri="{FF2B5EF4-FFF2-40B4-BE49-F238E27FC236}">
                <a16:creationId xmlns:a16="http://schemas.microsoft.com/office/drawing/2014/main" id="{F85F9AC2-92F3-4AF1-B7BF-DE34767FD992}"/>
              </a:ext>
            </a:extLst>
          </p:cNvPr>
          <p:cNvSpPr>
            <a:spLocks xmlns:a="http://schemas.openxmlformats.org/drawingml/2006/main" noGrp="1"/>
          </p:cNvSpPr>
          <p:nvPr/>
        </p:nvSpPr>
        <p:spPr>
          <a:xfrm xmlns:a="http://schemas.openxmlformats.org/drawingml/2006/main">
            <a:off x="9239250" y="24574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4350" b="1">
                <a:solidFill>
                  <a:srgbClr val="3D8DFF"/>
                </a:solidFill>
                <a:latin typeface="Arial"/>
                <a:ea typeface="Arial"/>
                <a:cs typeface="Arial"/>
              </a:defRPr>
            </a:pPr>
            <a:r>
              <a:rPr sz="4350" b="1">
                <a:solidFill>
                  <a:srgbClr val="3D8DFF"/>
                </a:solidFill>
                <a:latin typeface="Arial"/>
                <a:ea typeface="Arial"/>
                <a:cs typeface="Arial"/>
              </a:rPr>
              <a:t>3</a:t>
            </a:r>
          </a:p>
        </p:txBody>
      </p:sp>
      <p:sp>
        <p:nvSpPr>
          <p:cNvPr id="14" name="metric-label-paired seeds">
            <a:extLst xmlns:a="http://schemas.openxmlformats.org/drawingml/2006/main">
              <a:ext uri="{FF2B5EF4-FFF2-40B4-BE49-F238E27FC236}">
                <a16:creationId xmlns:a16="http://schemas.microsoft.com/office/drawing/2014/main" id="{42C2976A-8441-4976-8CFE-719BF81203C1}"/>
              </a:ext>
            </a:extLst>
          </p:cNvPr>
          <p:cNvSpPr>
            <a:spLocks xmlns:a="http://schemas.openxmlformats.org/drawingml/2006/main" noGrp="1"/>
          </p:cNvSpPr>
          <p:nvPr/>
        </p:nvSpPr>
        <p:spPr>
          <a:xfrm xmlns:a="http://schemas.openxmlformats.org/drawingml/2006/main">
            <a:off x="9239250" y="340995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00" b="1">
                <a:solidFill>
                  <a:srgbClr val="111111"/>
                </a:solidFill>
                <a:latin typeface="Arial"/>
                <a:ea typeface="Arial"/>
                <a:cs typeface="Arial"/>
              </a:defRPr>
            </a:pPr>
            <a:r>
              <a:rPr sz="1800" b="1">
                <a:solidFill>
                  <a:srgbClr val="111111"/>
                </a:solidFill>
                <a:latin typeface="Arial"/>
                <a:ea typeface="Arial"/>
                <a:cs typeface="Arial"/>
              </a:rPr>
              <a:t>paired seeds</a:t>
            </a:r>
          </a:p>
        </p:txBody>
      </p:sp>
      <p:sp>
        <p:nvSpPr>
          <p:cNvPr id="15" name="nir-strip">
            <a:extLst xmlns:a="http://schemas.openxmlformats.org/drawingml/2006/main">
              <a:ext uri="{FF2B5EF4-FFF2-40B4-BE49-F238E27FC236}">
                <a16:creationId xmlns:a16="http://schemas.microsoft.com/office/drawing/2014/main" id="{AF69C58E-F666-4D92-83D2-595B2F374EA6}"/>
              </a:ext>
            </a:extLst>
          </p:cNvPr>
          <p:cNvSpPr>
            <a:spLocks xmlns:a="http://schemas.openxmlformats.org/drawingml/2006/main" noGrp="1"/>
          </p:cNvSpPr>
          <p:nvPr/>
        </p:nvSpPr>
        <p:spPr>
          <a:xfrm xmlns:a="http://schemas.openxmlformats.org/drawingml/2006/main">
            <a:off x="1047750" y="51435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025" b="1">
                <a:solidFill>
                  <a:srgbClr val="111111"/>
                </a:solidFill>
                <a:latin typeface="Arial"/>
                <a:ea typeface="Arial"/>
                <a:cs typeface="Arial"/>
              </a:defRPr>
            </a:pPr>
            <a:r>
              <a:rPr sz="2025" b="1">
                <a:solidFill>
                  <a:srgbClr val="111111"/>
                </a:solidFill>
                <a:latin typeface="Arial"/>
                <a:ea typeface="Arial"/>
                <a:cs typeface="Arial"/>
              </a:rPr>
              <a:t>Complementary NIR experiment: 8 systems · 2 negative exposures · 1 fixed seed</a:t>
            </a:r>
          </a:p>
        </p:txBody>
      </p:sp>
    </p:spTree>
    <p:extLst>
      <p:ext uri="{BB962C8B-B14F-4D97-AF65-F5344CB8AC3E}">
        <p14:creationId xmlns:p14="http://schemas.microsoft.com/office/powerpoint/2010/main" val="8354751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5">
            <a:extLst xmlns:a="http://schemas.openxmlformats.org/drawingml/2006/main">
              <a:ext uri="{FF2B5EF4-FFF2-40B4-BE49-F238E27FC236}">
                <a16:creationId xmlns:a16="http://schemas.microsoft.com/office/drawing/2014/main" id="{2964DD70-447F-4C77-B0BE-B0EE46673FDE}"/>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Protect the test set from tuning</a:t>
            </a:r>
          </a:p>
        </p:txBody>
      </p:sp>
      <p:sp>
        <p:nvSpPr>
          <p:cNvPr id="2" name="title-rule-5">
            <a:extLst xmlns:a="http://schemas.openxmlformats.org/drawingml/2006/main">
              <a:ext uri="{FF2B5EF4-FFF2-40B4-BE49-F238E27FC236}">
                <a16:creationId xmlns:a16="http://schemas.microsoft.com/office/drawing/2014/main" id="{1CABF0A8-A235-488E-8489-9C8D8A89E5EF}"/>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5">
            <a:extLst xmlns:a="http://schemas.openxmlformats.org/drawingml/2006/main">
              <a:ext uri="{FF2B5EF4-FFF2-40B4-BE49-F238E27FC236}">
                <a16:creationId xmlns:a16="http://schemas.microsoft.com/office/drawing/2014/main" id="{C869D3F6-6C06-4DCE-B1C0-CBD1C0CAB665}"/>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ca90c0d98164d7a"/>
          <a:stretch xmlns:a="http://schemas.openxmlformats.org/drawingml/2006/main"/>
        </p:blipFill>
        <p:spPr>
          <a:xfrm xmlns:a="http://schemas.openxmlformats.org/drawingml/2006/main">
            <a:off x="590550" y="1598176"/>
            <a:ext cx="11001375" cy="3375898"/>
          </a:xfrm>
          <a:prstGeom xmlns:a="http://schemas.openxmlformats.org/drawingml/2006/main" prst="rect">
            <a:avLst/>
          </a:prstGeom>
        </p:spPr>
      </p:pic>
      <p:sp>
        <p:nvSpPr>
          <p:cNvPr id="5" name="protocol-footer">
            <a:extLst xmlns:a="http://schemas.openxmlformats.org/drawingml/2006/main">
              <a:ext uri="{FF2B5EF4-FFF2-40B4-BE49-F238E27FC236}">
                <a16:creationId xmlns:a16="http://schemas.microsoft.com/office/drawing/2014/main" id="{3268BB9E-031D-4809-A4D2-605B2FA8F0A0}"/>
              </a:ext>
            </a:extLst>
          </p:cNvPr>
          <p:cNvSpPr>
            <a:spLocks xmlns:a="http://schemas.openxmlformats.org/drawingml/2006/main" noGrp="1"/>
          </p:cNvSpPr>
          <p:nvPr/>
        </p:nvSpPr>
        <p:spPr>
          <a:xfrm xmlns:a="http://schemas.openxmlformats.org/drawingml/2006/main">
            <a:off x="714375" y="53340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025" b="1">
                <a:solidFill>
                  <a:srgbClr val="111111"/>
                </a:solidFill>
                <a:latin typeface="Arial"/>
                <a:ea typeface="Arial"/>
                <a:cs typeface="Arial"/>
              </a:defRPr>
            </a:pPr>
            <a:r>
              <a:rPr sz="2025" b="1">
                <a:solidFill>
                  <a:srgbClr val="111111"/>
                </a:solidFill>
                <a:latin typeface="Arial"/>
                <a:ea typeface="Arial"/>
                <a:cs typeface="Arial"/>
              </a:rPr>
              <a:t>Subject-disjoint split     ·     validation-only threshold     ·     all negatives retained</a:t>
            </a:r>
          </a:p>
        </p:txBody>
      </p:sp>
    </p:spTree>
    <p:extLst>
      <p:ext uri="{BB962C8B-B14F-4D97-AF65-F5344CB8AC3E}">
        <p14:creationId xmlns:p14="http://schemas.microsoft.com/office/powerpoint/2010/main" val="21440507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6">
            <a:extLst xmlns:a="http://schemas.openxmlformats.org/drawingml/2006/main">
              <a:ext uri="{FF2B5EF4-FFF2-40B4-BE49-F238E27FC236}">
                <a16:creationId xmlns:a16="http://schemas.microsoft.com/office/drawing/2014/main" id="{1A9CBED3-4788-4FB5-84DA-25077EA38C00}"/>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No detector wins accuracy, reliability, and speed</a:t>
            </a:r>
          </a:p>
        </p:txBody>
      </p:sp>
      <p:sp>
        <p:nvSpPr>
          <p:cNvPr id="2" name="title-rule-6">
            <a:extLst xmlns:a="http://schemas.openxmlformats.org/drawingml/2006/main">
              <a:ext uri="{FF2B5EF4-FFF2-40B4-BE49-F238E27FC236}">
                <a16:creationId xmlns:a16="http://schemas.microsoft.com/office/drawing/2014/main" id="{D8F52B57-033B-4008-87E7-7644DC9DA38C}"/>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6">
            <a:extLst xmlns:a="http://schemas.openxmlformats.org/drawingml/2006/main">
              <a:ext uri="{FF2B5EF4-FFF2-40B4-BE49-F238E27FC236}">
                <a16:creationId xmlns:a16="http://schemas.microsoft.com/office/drawing/2014/main" id="{603ED1CC-21AB-45A0-87B0-850DF7D875EF}"/>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e4f573dac8b453f"/>
          <a:stretch xmlns:a="http://schemas.openxmlformats.org/drawingml/2006/main"/>
        </p:blipFill>
        <p:spPr>
          <a:xfrm xmlns:a="http://schemas.openxmlformats.org/drawingml/2006/main">
            <a:off x="381000" y="1494512"/>
            <a:ext cx="8096250" cy="3868975"/>
          </a:xfrm>
          <a:prstGeom xmlns:a="http://schemas.openxmlformats.org/drawingml/2006/main" prst="rect">
            <a:avLst/>
          </a:prstGeom>
        </p:spPr>
      </p:pic>
      <p:sp>
        <p:nvSpPr>
          <p:cNvPr id="5" name="winner-y11">
            <a:extLst xmlns:a="http://schemas.openxmlformats.org/drawingml/2006/main">
              <a:ext uri="{FF2B5EF4-FFF2-40B4-BE49-F238E27FC236}">
                <a16:creationId xmlns:a16="http://schemas.microsoft.com/office/drawing/2014/main" id="{7B7F9C7C-9ADA-4124-8CB8-3095F7019469}"/>
              </a:ext>
            </a:extLst>
          </p:cNvPr>
          <p:cNvSpPr>
            <a:spLocks xmlns:a="http://schemas.openxmlformats.org/drawingml/2006/main" noGrp="1"/>
          </p:cNvSpPr>
          <p:nvPr/>
        </p:nvSpPr>
        <p:spPr>
          <a:xfrm xmlns:a="http://schemas.openxmlformats.org/drawingml/2006/main">
            <a:off x="8810625" y="16192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YOLO11n</a:t>
            </a:r>
          </a:p>
        </p:txBody>
      </p:sp>
      <p:sp>
        <p:nvSpPr>
          <p:cNvPr id="6" name="winner-y11-body">
            <a:extLst xmlns:a="http://schemas.openxmlformats.org/drawingml/2006/main">
              <a:ext uri="{FF2B5EF4-FFF2-40B4-BE49-F238E27FC236}">
                <a16:creationId xmlns:a16="http://schemas.microsoft.com/office/drawing/2014/main" id="{B38FDD67-39A6-417D-B853-C675B3F4F29E}"/>
              </a:ext>
            </a:extLst>
          </p:cNvPr>
          <p:cNvSpPr>
            <a:spLocks xmlns:a="http://schemas.openxmlformats.org/drawingml/2006/main" noGrp="1"/>
          </p:cNvSpPr>
          <p:nvPr/>
        </p:nvSpPr>
        <p:spPr>
          <a:xfrm xmlns:a="http://schemas.openxmlformats.org/drawingml/2006/main">
            <a:off x="8810625" y="205740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B6573"/>
                </a:solidFill>
                <a:latin typeface="Arial"/>
                <a:ea typeface="Arial"/>
                <a:cs typeface="Arial"/>
              </a:defRPr>
            </a:pPr>
            <a:r>
              <a:rPr sz="1575" b="0">
                <a:solidFill>
                  <a:srgbClr val="5B6573"/>
                </a:solidFill>
                <a:latin typeface="Arial"/>
                <a:ea typeface="Arial"/>
                <a:cs typeface="Arial"/>
              </a:rPr>
              <a:t>Coarse-IoU accuracy</a:t>
            </a:r>
          </a:p>
          <a:p xmlns:a="http://schemas.openxmlformats.org/drawingml/2006/main">
            <a:pPr algn="l">
              <a:defRPr sz="1575" b="0">
                <a:solidFill>
                  <a:srgbClr val="5B6573"/>
                </a:solidFill>
                <a:latin typeface="Arial"/>
                <a:ea typeface="Arial"/>
                <a:cs typeface="Arial"/>
              </a:defRPr>
            </a:pPr>
            <a:r>
              <a:rPr sz="1575" b="0">
                <a:solidFill>
                  <a:srgbClr val="5B6573"/>
                </a:solidFill>
                <a:latin typeface="Arial"/>
                <a:ea typeface="Arial"/>
                <a:cs typeface="Arial"/>
              </a:rPr>
              <a:t>68.0 FPS throughput</a:t>
            </a:r>
          </a:p>
        </p:txBody>
      </p:sp>
      <p:sp>
        <p:nvSpPr>
          <p:cNvPr id="7" name="winner-y26">
            <a:extLst xmlns:a="http://schemas.openxmlformats.org/drawingml/2006/main">
              <a:ext uri="{FF2B5EF4-FFF2-40B4-BE49-F238E27FC236}">
                <a16:creationId xmlns:a16="http://schemas.microsoft.com/office/drawing/2014/main" id="{E594AB39-BA0D-4531-9214-08ED8C829560}"/>
              </a:ext>
            </a:extLst>
          </p:cNvPr>
          <p:cNvSpPr>
            <a:spLocks xmlns:a="http://schemas.openxmlformats.org/drawingml/2006/main" noGrp="1"/>
          </p:cNvSpPr>
          <p:nvPr/>
        </p:nvSpPr>
        <p:spPr>
          <a:xfrm xmlns:a="http://schemas.openxmlformats.org/drawingml/2006/main">
            <a:off x="8810625" y="30480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D55E00"/>
                </a:solidFill>
                <a:latin typeface="Arial"/>
                <a:ea typeface="Arial"/>
                <a:cs typeface="Arial"/>
              </a:defRPr>
            </a:pPr>
            <a:r>
              <a:rPr sz="2025" b="1">
                <a:solidFill>
                  <a:srgbClr val="D55E00"/>
                </a:solidFill>
                <a:latin typeface="Arial"/>
                <a:ea typeface="Arial"/>
                <a:cs typeface="Arial"/>
              </a:rPr>
              <a:t>YOLO26n</a:t>
            </a:r>
          </a:p>
        </p:txBody>
      </p:sp>
      <p:sp>
        <p:nvSpPr>
          <p:cNvPr id="8" name="winner-y26-body">
            <a:extLst xmlns:a="http://schemas.openxmlformats.org/drawingml/2006/main">
              <a:ext uri="{FF2B5EF4-FFF2-40B4-BE49-F238E27FC236}">
                <a16:creationId xmlns:a16="http://schemas.microsoft.com/office/drawing/2014/main" id="{13BE09B9-D97D-4BA8-BE57-5AC3898B9FBE}"/>
              </a:ext>
            </a:extLst>
          </p:cNvPr>
          <p:cNvSpPr>
            <a:spLocks xmlns:a="http://schemas.openxmlformats.org/drawingml/2006/main" noGrp="1"/>
          </p:cNvSpPr>
          <p:nvPr/>
        </p:nvSpPr>
        <p:spPr>
          <a:xfrm xmlns:a="http://schemas.openxmlformats.org/drawingml/2006/main">
            <a:off x="8810625" y="34861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B6573"/>
                </a:solidFill>
                <a:latin typeface="Arial"/>
                <a:ea typeface="Arial"/>
                <a:cs typeface="Arial"/>
              </a:defRPr>
            </a:pPr>
            <a:r>
              <a:rPr sz="1575" b="0">
                <a:solidFill>
                  <a:srgbClr val="5B6573"/>
                </a:solidFill>
                <a:latin typeface="Arial"/>
                <a:ea typeface="Arial"/>
                <a:cs typeface="Arial"/>
              </a:rPr>
              <a:t>Strict-IoU localization</a:t>
            </a:r>
          </a:p>
          <a:p xmlns:a="http://schemas.openxmlformats.org/drawingml/2006/main">
            <a:pPr algn="l">
              <a:defRPr sz="1575" b="0">
                <a:solidFill>
                  <a:srgbClr val="5B6573"/>
                </a:solidFill>
                <a:latin typeface="Arial"/>
                <a:ea typeface="Arial"/>
                <a:cs typeface="Arial"/>
              </a:defRPr>
            </a:pPr>
            <a:r>
              <a:rPr sz="1575" b="0">
                <a:solidFill>
                  <a:srgbClr val="5B6573"/>
                </a:solidFill>
                <a:latin typeface="Arial"/>
                <a:ea typeface="Arial"/>
                <a:cs typeface="Arial"/>
              </a:rPr>
              <a:t>56.98% mAP@0.5:0.95</a:t>
            </a:r>
          </a:p>
        </p:txBody>
      </p:sp>
      <p:sp>
        <p:nvSpPr>
          <p:cNvPr id="9" name="winner-dfine">
            <a:extLst xmlns:a="http://schemas.openxmlformats.org/drawingml/2006/main">
              <a:ext uri="{FF2B5EF4-FFF2-40B4-BE49-F238E27FC236}">
                <a16:creationId xmlns:a16="http://schemas.microsoft.com/office/drawing/2014/main" id="{AD81D9CF-A2F6-415E-8676-99ADE439A1FC}"/>
              </a:ext>
            </a:extLst>
          </p:cNvPr>
          <p:cNvSpPr>
            <a:spLocks xmlns:a="http://schemas.openxmlformats.org/drawingml/2006/main" noGrp="1"/>
          </p:cNvSpPr>
          <p:nvPr/>
        </p:nvSpPr>
        <p:spPr>
          <a:xfrm xmlns:a="http://schemas.openxmlformats.org/drawingml/2006/main">
            <a:off x="8810625" y="44767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009E73"/>
                </a:solidFill>
                <a:latin typeface="Arial"/>
                <a:ea typeface="Arial"/>
                <a:cs typeface="Arial"/>
              </a:defRPr>
            </a:pPr>
            <a:r>
              <a:rPr sz="2025" b="1">
                <a:solidFill>
                  <a:srgbClr val="009E73"/>
                </a:solidFill>
                <a:latin typeface="Arial"/>
                <a:ea typeface="Arial"/>
                <a:cs typeface="Arial"/>
              </a:rPr>
              <a:t>D-FINE-N</a:t>
            </a:r>
          </a:p>
        </p:txBody>
      </p:sp>
      <p:sp>
        <p:nvSpPr>
          <p:cNvPr id="10" name="winner-dfine-body">
            <a:extLst xmlns:a="http://schemas.openxmlformats.org/drawingml/2006/main">
              <a:ext uri="{FF2B5EF4-FFF2-40B4-BE49-F238E27FC236}">
                <a16:creationId xmlns:a16="http://schemas.microsoft.com/office/drawing/2014/main" id="{E4F993F6-510C-4E89-A6C4-2E463C0561AF}"/>
              </a:ext>
            </a:extLst>
          </p:cNvPr>
          <p:cNvSpPr>
            <a:spLocks xmlns:a="http://schemas.openxmlformats.org/drawingml/2006/main" noGrp="1"/>
          </p:cNvSpPr>
          <p:nvPr/>
        </p:nvSpPr>
        <p:spPr>
          <a:xfrm xmlns:a="http://schemas.openxmlformats.org/drawingml/2006/main">
            <a:off x="8810625" y="491490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B6573"/>
                </a:solidFill>
                <a:latin typeface="Arial"/>
                <a:ea typeface="Arial"/>
                <a:cs typeface="Arial"/>
              </a:defRPr>
            </a:pPr>
            <a:r>
              <a:rPr sz="1575" b="0">
                <a:solidFill>
                  <a:srgbClr val="5B6573"/>
                </a:solidFill>
                <a:latin typeface="Arial"/>
                <a:ea typeface="Arial"/>
                <a:cs typeface="Arial"/>
              </a:rPr>
              <a:t>Calibrated reliability</a:t>
            </a:r>
          </a:p>
          <a:p xmlns:a="http://schemas.openxmlformats.org/drawingml/2006/main">
            <a:pPr algn="l">
              <a:defRPr sz="1575" b="0">
                <a:solidFill>
                  <a:srgbClr val="5B6573"/>
                </a:solidFill>
                <a:latin typeface="Arial"/>
                <a:ea typeface="Arial"/>
                <a:cs typeface="Arial"/>
              </a:defRPr>
            </a:pPr>
            <a:r>
              <a:rPr sz="1575" b="0">
                <a:solidFill>
                  <a:srgbClr val="5B6573"/>
                </a:solidFill>
                <a:latin typeface="Arial"/>
                <a:ea typeface="Arial"/>
                <a:cs typeface="Arial"/>
              </a:rPr>
              <a:t>91.14% micro-F1</a:t>
            </a:r>
          </a:p>
        </p:txBody>
      </p:sp>
    </p:spTree>
    <p:extLst>
      <p:ext uri="{BB962C8B-B14F-4D97-AF65-F5344CB8AC3E}">
        <p14:creationId xmlns:p14="http://schemas.microsoft.com/office/powerpoint/2010/main" val="13933340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7">
            <a:extLst xmlns:a="http://schemas.openxmlformats.org/drawingml/2006/main">
              <a:ext uri="{FF2B5EF4-FFF2-40B4-BE49-F238E27FC236}">
                <a16:creationId xmlns:a16="http://schemas.microsoft.com/office/drawing/2014/main" id="{66E9499E-D15C-4436-9290-920691E69F76}"/>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Driver identity matters more than seed variation</a:t>
            </a:r>
          </a:p>
        </p:txBody>
      </p:sp>
      <p:sp>
        <p:nvSpPr>
          <p:cNvPr id="2" name="title-rule-7">
            <a:extLst xmlns:a="http://schemas.openxmlformats.org/drawingml/2006/main">
              <a:ext uri="{FF2B5EF4-FFF2-40B4-BE49-F238E27FC236}">
                <a16:creationId xmlns:a16="http://schemas.microsoft.com/office/drawing/2014/main" id="{2B4E44EE-8331-4286-AF92-F820EB5E7F0D}"/>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7">
            <a:extLst xmlns:a="http://schemas.openxmlformats.org/drawingml/2006/main">
              <a:ext uri="{FF2B5EF4-FFF2-40B4-BE49-F238E27FC236}">
                <a16:creationId xmlns:a16="http://schemas.microsoft.com/office/drawing/2014/main" id="{C584A236-1F13-4BDD-B5DA-558D0FDA6A91}"/>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7</a:t>
            </a:r>
          </a:p>
        </p:txBody>
      </p:sp>
      <p:graphicFrame>
        <p:nvGraphicFramePr>
          <p:cNvPr id="12" name="Chart"/>
          <p:cNvGraphicFramePr/>
          <p:nvPr/>
        </p:nvGraphicFramePr>
        <p:xfrm>
          <a:off xmlns:a="http://schemas.openxmlformats.org/drawingml/2006/main" x="666750" y="1571625"/>
          <a:ext xmlns:a="http://schemas.openxmlformats.org/drawingml/2006/main" cx="7239000" cy="4191000"/>
        </p:xfrm>
        <a:graphic xmlns:a="http://schemas.openxmlformats.org/drawingml/2006/main">
          <a:graphicData uri="http://schemas.openxmlformats.org/drawingml/2006/chart">
            <c:chart xmlns:r="http://schemas.openxmlformats.org/officeDocument/2006/relationships" xmlns:c="http://schemas.openxmlformats.org/drawingml/2006/chart" r:id="R7985298f4d0d4e40"/>
          </a:graphicData>
        </a:graphic>
      </p:graphicFrame>
      <p:sp>
        <p:nvSpPr>
          <p:cNvPr id="5" name="subject-ten">
            <a:extLst xmlns:a="http://schemas.openxmlformats.org/drawingml/2006/main">
              <a:ext uri="{FF2B5EF4-FFF2-40B4-BE49-F238E27FC236}">
                <a16:creationId xmlns:a16="http://schemas.microsoft.com/office/drawing/2014/main" id="{85DFC3CC-A2BD-4F55-A13C-0AB23BE31A2D}"/>
              </a:ext>
            </a:extLst>
          </p:cNvPr>
          <p:cNvSpPr>
            <a:spLocks xmlns:a="http://schemas.openxmlformats.org/drawingml/2006/main" noGrp="1"/>
          </p:cNvSpPr>
          <p:nvPr/>
        </p:nvSpPr>
        <p:spPr>
          <a:xfrm xmlns:a="http://schemas.openxmlformats.org/drawingml/2006/main">
            <a:off x="8477250" y="21431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325" b="1">
                <a:solidFill>
                  <a:srgbClr val="D55E00"/>
                </a:solidFill>
                <a:latin typeface="Arial"/>
                <a:ea typeface="Arial"/>
                <a:cs typeface="Arial"/>
              </a:defRPr>
            </a:pPr>
            <a:r>
              <a:rPr sz="2325" b="1">
                <a:solidFill>
                  <a:srgbClr val="D55E00"/>
                </a:solidFill>
                <a:latin typeface="Arial"/>
                <a:ea typeface="Arial"/>
                <a:cs typeface="Arial"/>
              </a:rPr>
              <a:t>Subject 10</a:t>
            </a:r>
          </a:p>
        </p:txBody>
      </p:sp>
      <p:sp>
        <p:nvSpPr>
          <p:cNvPr id="6" name="subject-ten-body">
            <a:extLst xmlns:a="http://schemas.openxmlformats.org/drawingml/2006/main">
              <a:ext uri="{FF2B5EF4-FFF2-40B4-BE49-F238E27FC236}">
                <a16:creationId xmlns:a16="http://schemas.microsoft.com/office/drawing/2014/main" id="{6A9A81FE-0373-4288-B22A-36D16B0B2EAE}"/>
              </a:ext>
            </a:extLst>
          </p:cNvPr>
          <p:cNvSpPr>
            <a:spLocks xmlns:a="http://schemas.openxmlformats.org/drawingml/2006/main" noGrp="1"/>
          </p:cNvSpPr>
          <p:nvPr/>
        </p:nvSpPr>
        <p:spPr>
          <a:xfrm xmlns:a="http://schemas.openxmlformats.org/drawingml/2006/main">
            <a:off x="8477250" y="266700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54.11–78.79%</a:t>
            </a:r>
          </a:p>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across systems</a:t>
            </a:r>
          </a:p>
        </p:txBody>
      </p:sp>
      <p:sp>
        <p:nvSpPr>
          <p:cNvPr id="7" name="subject-rule">
            <a:extLst xmlns:a="http://schemas.openxmlformats.org/drawingml/2006/main">
              <a:ext uri="{FF2B5EF4-FFF2-40B4-BE49-F238E27FC236}">
                <a16:creationId xmlns:a16="http://schemas.microsoft.com/office/drawing/2014/main" id="{4C829FA0-AEC3-4798-835E-85DF6F29632C}"/>
              </a:ext>
            </a:extLst>
          </p:cNvPr>
          <p:cNvSpPr>
            <a:spLocks xmlns:a="http://schemas.openxmlformats.org/drawingml/2006/main" noGrp="1"/>
          </p:cNvSpPr>
          <p:nvPr/>
        </p:nvSpPr>
        <p:spPr>
          <a:xfrm xmlns:a="http://schemas.openxmlformats.org/drawingml/2006/main">
            <a:off x="8477250" y="3810000"/>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subject-meaning">
            <a:extLst xmlns:a="http://schemas.openxmlformats.org/drawingml/2006/main">
              <a:ext uri="{FF2B5EF4-FFF2-40B4-BE49-F238E27FC236}">
                <a16:creationId xmlns:a16="http://schemas.microsoft.com/office/drawing/2014/main" id="{77EA6072-D712-4C01-BAC1-FBD1DA549129}"/>
              </a:ext>
            </a:extLst>
          </p:cNvPr>
          <p:cNvSpPr>
            <a:spLocks xmlns:a="http://schemas.openxmlformats.org/drawingml/2006/main" noGrp="1"/>
          </p:cNvSpPr>
          <p:nvPr/>
        </p:nvSpPr>
        <p:spPr>
          <a:xfrm xmlns:a="http://schemas.openxmlformats.org/drawingml/2006/main">
            <a:off x="8477250" y="409575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0">
                <a:solidFill>
                  <a:srgbClr val="5B6573"/>
                </a:solidFill>
                <a:latin typeface="Arial"/>
                <a:ea typeface="Arial"/>
                <a:cs typeface="Arial"/>
              </a:defRPr>
            </a:pPr>
            <a:r>
              <a:rPr sz="1875" b="0">
                <a:solidFill>
                  <a:srgbClr val="5B6573"/>
                </a:solidFill>
                <a:latin typeface="Arial"/>
                <a:ea typeface="Arial"/>
                <a:cs typeface="Arial"/>
              </a:rPr>
              <a:t>A pooled score hides</a:t>
            </a:r>
          </a:p>
          <a:p xmlns:a="http://schemas.openxmlformats.org/drawingml/2006/main">
            <a:pPr algn="l">
              <a:defRPr sz="1875" b="0">
                <a:solidFill>
                  <a:srgbClr val="5B6573"/>
                </a:solidFill>
                <a:latin typeface="Arial"/>
                <a:ea typeface="Arial"/>
                <a:cs typeface="Arial"/>
              </a:defRPr>
            </a:pPr>
            <a:r>
              <a:rPr sz="1875" b="0">
                <a:solidFill>
                  <a:srgbClr val="5B6573"/>
                </a:solidFill>
                <a:latin typeface="Arial"/>
                <a:ea typeface="Arial"/>
                <a:cs typeface="Arial"/>
              </a:rPr>
              <a:t>the difficult driver.</a:t>
            </a:r>
          </a:p>
        </p:txBody>
      </p:sp>
    </p:spTree>
    <p:extLst>
      <p:ext uri="{BB962C8B-B14F-4D97-AF65-F5344CB8AC3E}">
        <p14:creationId xmlns:p14="http://schemas.microsoft.com/office/powerpoint/2010/main" val="20666868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8">
            <a:extLst xmlns:a="http://schemas.openxmlformats.org/drawingml/2006/main">
              <a:ext uri="{FF2B5EF4-FFF2-40B4-BE49-F238E27FC236}">
                <a16:creationId xmlns:a16="http://schemas.microsoft.com/office/drawing/2014/main" id="{C49AD65B-9BF2-4C31-91E7-E07955513B2F}"/>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Spatial detection errors are debuggable</a:t>
            </a:r>
          </a:p>
        </p:txBody>
      </p:sp>
      <p:sp>
        <p:nvSpPr>
          <p:cNvPr id="2" name="title-rule-8">
            <a:extLst xmlns:a="http://schemas.openxmlformats.org/drawingml/2006/main">
              <a:ext uri="{FF2B5EF4-FFF2-40B4-BE49-F238E27FC236}">
                <a16:creationId xmlns:a16="http://schemas.microsoft.com/office/drawing/2014/main" id="{A7DD78F3-32B4-4EC0-9DCD-7CFBB0BF8E56}"/>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8">
            <a:extLst xmlns:a="http://schemas.openxmlformats.org/drawingml/2006/main">
              <a:ext uri="{FF2B5EF4-FFF2-40B4-BE49-F238E27FC236}">
                <a16:creationId xmlns:a16="http://schemas.microsoft.com/office/drawing/2014/main" id="{0FBEB404-E974-44AC-B79D-BC8AE430751A}"/>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8e84205dc6145bd"/>
          <a:stretch xmlns:a="http://schemas.openxmlformats.org/drawingml/2006/main"/>
        </p:blipFill>
        <p:spPr>
          <a:xfrm xmlns:a="http://schemas.openxmlformats.org/drawingml/2006/main">
            <a:off x="2137544" y="1285875"/>
            <a:ext cx="4821288" cy="4953000"/>
          </a:xfrm>
          <a:prstGeom xmlns:a="http://schemas.openxmlformats.org/drawingml/2006/main" prst="rect">
            <a:avLst/>
          </a:prstGeom>
        </p:spPr>
      </p:pic>
      <p:sp>
        <p:nvSpPr>
          <p:cNvPr id="5" name="qual-one">
            <a:extLst xmlns:a="http://schemas.openxmlformats.org/drawingml/2006/main">
              <a:ext uri="{FF2B5EF4-FFF2-40B4-BE49-F238E27FC236}">
                <a16:creationId xmlns:a16="http://schemas.microsoft.com/office/drawing/2014/main" id="{90AAE09D-2B4E-4E07-875F-A296AC9AFFE5}"/>
              </a:ext>
            </a:extLst>
          </p:cNvPr>
          <p:cNvSpPr>
            <a:spLocks xmlns:a="http://schemas.openxmlformats.org/drawingml/2006/main" noGrp="1"/>
          </p:cNvSpPr>
          <p:nvPr/>
        </p:nvSpPr>
        <p:spPr>
          <a:xfrm xmlns:a="http://schemas.openxmlformats.org/drawingml/2006/main">
            <a:off x="9096375" y="17335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009E73"/>
                </a:solidFill>
                <a:latin typeface="Arial"/>
                <a:ea typeface="Arial"/>
                <a:cs typeface="Arial"/>
              </a:defRPr>
            </a:pPr>
            <a:r>
              <a:rPr sz="2025" b="1">
                <a:solidFill>
                  <a:srgbClr val="009E73"/>
                </a:solidFill>
                <a:latin typeface="Arial"/>
                <a:ea typeface="Arial"/>
                <a:cs typeface="Arial"/>
              </a:rPr>
              <a:t>Correct</a:t>
            </a:r>
          </a:p>
        </p:txBody>
      </p:sp>
      <p:sp>
        <p:nvSpPr>
          <p:cNvPr id="6" name="qual-one-body">
            <a:extLst xmlns:a="http://schemas.openxmlformats.org/drawingml/2006/main">
              <a:ext uri="{FF2B5EF4-FFF2-40B4-BE49-F238E27FC236}">
                <a16:creationId xmlns:a16="http://schemas.microsoft.com/office/drawing/2014/main" id="{90BF7C71-5B36-400F-98C8-AA544FAB5ABA}"/>
              </a:ext>
            </a:extLst>
          </p:cNvPr>
          <p:cNvSpPr>
            <a:spLocks xmlns:a="http://schemas.openxmlformats.org/drawingml/2006/main" noGrp="1"/>
          </p:cNvSpPr>
          <p:nvPr/>
        </p:nvSpPr>
        <p:spPr>
          <a:xfrm xmlns:a="http://schemas.openxmlformats.org/drawingml/2006/main">
            <a:off x="9096375" y="2143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B6573"/>
                </a:solidFill>
                <a:latin typeface="Arial"/>
                <a:ea typeface="Arial"/>
                <a:cs typeface="Arial"/>
              </a:defRPr>
            </a:pPr>
            <a:r>
              <a:rPr sz="1500" b="0">
                <a:solidFill>
                  <a:srgbClr val="5B6573"/>
                </a:solidFill>
                <a:latin typeface="Arial"/>
                <a:ea typeface="Arial"/>
                <a:cs typeface="Arial"/>
              </a:rPr>
              <a:t>Cue and location agree</a:t>
            </a:r>
          </a:p>
        </p:txBody>
      </p:sp>
      <p:sp>
        <p:nvSpPr>
          <p:cNvPr id="7" name="qual-two">
            <a:extLst xmlns:a="http://schemas.openxmlformats.org/drawingml/2006/main">
              <a:ext uri="{FF2B5EF4-FFF2-40B4-BE49-F238E27FC236}">
                <a16:creationId xmlns:a16="http://schemas.microsoft.com/office/drawing/2014/main" id="{F6506C25-D602-4B6A-84D4-A62F7684357B}"/>
              </a:ext>
            </a:extLst>
          </p:cNvPr>
          <p:cNvSpPr>
            <a:spLocks xmlns:a="http://schemas.openxmlformats.org/drawingml/2006/main" noGrp="1"/>
          </p:cNvSpPr>
          <p:nvPr/>
        </p:nvSpPr>
        <p:spPr>
          <a:xfrm xmlns:a="http://schemas.openxmlformats.org/drawingml/2006/main">
            <a:off x="9096375" y="3095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D55E00"/>
                </a:solidFill>
                <a:latin typeface="Arial"/>
                <a:ea typeface="Arial"/>
                <a:cs typeface="Arial"/>
              </a:defRPr>
            </a:pPr>
            <a:r>
              <a:rPr sz="2025" b="1">
                <a:solidFill>
                  <a:srgbClr val="D55E00"/>
                </a:solidFill>
                <a:latin typeface="Arial"/>
                <a:ea typeface="Arial"/>
                <a:cs typeface="Arial"/>
              </a:rPr>
              <a:t>False positive</a:t>
            </a:r>
          </a:p>
        </p:txBody>
      </p:sp>
      <p:sp>
        <p:nvSpPr>
          <p:cNvPr id="8" name="qual-two-body">
            <a:extLst xmlns:a="http://schemas.openxmlformats.org/drawingml/2006/main">
              <a:ext uri="{FF2B5EF4-FFF2-40B4-BE49-F238E27FC236}">
                <a16:creationId xmlns:a16="http://schemas.microsoft.com/office/drawing/2014/main" id="{36F83938-8900-450F-84A8-2167246D7F4F}"/>
              </a:ext>
            </a:extLst>
          </p:cNvPr>
          <p:cNvSpPr>
            <a:spLocks xmlns:a="http://schemas.openxmlformats.org/drawingml/2006/main" noGrp="1"/>
          </p:cNvSpPr>
          <p:nvPr/>
        </p:nvSpPr>
        <p:spPr>
          <a:xfrm xmlns:a="http://schemas.openxmlformats.org/drawingml/2006/main">
            <a:off x="9096375" y="350520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B6573"/>
                </a:solidFill>
                <a:latin typeface="Arial"/>
                <a:ea typeface="Arial"/>
                <a:cs typeface="Arial"/>
              </a:defRPr>
            </a:pPr>
            <a:r>
              <a:rPr sz="1500" b="0">
                <a:solidFill>
                  <a:srgbClr val="5B6573"/>
                </a:solidFill>
                <a:latin typeface="Arial"/>
                <a:ea typeface="Arial"/>
                <a:cs typeface="Arial"/>
              </a:rPr>
              <a:t>Cue-like nominal negative</a:t>
            </a:r>
          </a:p>
        </p:txBody>
      </p:sp>
      <p:sp>
        <p:nvSpPr>
          <p:cNvPr id="9" name="qual-three">
            <a:extLst xmlns:a="http://schemas.openxmlformats.org/drawingml/2006/main">
              <a:ext uri="{FF2B5EF4-FFF2-40B4-BE49-F238E27FC236}">
                <a16:creationId xmlns:a16="http://schemas.microsoft.com/office/drawing/2014/main" id="{38F57186-58F3-486B-AFAB-A24C0B4DB406}"/>
              </a:ext>
            </a:extLst>
          </p:cNvPr>
          <p:cNvSpPr>
            <a:spLocks xmlns:a="http://schemas.openxmlformats.org/drawingml/2006/main" noGrp="1"/>
          </p:cNvSpPr>
          <p:nvPr/>
        </p:nvSpPr>
        <p:spPr>
          <a:xfrm xmlns:a="http://schemas.openxmlformats.org/drawingml/2006/main">
            <a:off x="9096375" y="4619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False negative</a:t>
            </a:r>
          </a:p>
        </p:txBody>
      </p:sp>
      <p:sp>
        <p:nvSpPr>
          <p:cNvPr id="10" name="qual-three-body">
            <a:extLst xmlns:a="http://schemas.openxmlformats.org/drawingml/2006/main">
              <a:ext uri="{FF2B5EF4-FFF2-40B4-BE49-F238E27FC236}">
                <a16:creationId xmlns:a16="http://schemas.microsoft.com/office/drawing/2014/main" id="{173E1E35-B3CB-44FB-8F47-0ACE0D77982D}"/>
              </a:ext>
            </a:extLst>
          </p:cNvPr>
          <p:cNvSpPr>
            <a:spLocks xmlns:a="http://schemas.openxmlformats.org/drawingml/2006/main" noGrp="1"/>
          </p:cNvSpPr>
          <p:nvPr/>
        </p:nvSpPr>
        <p:spPr>
          <a:xfrm xmlns:a="http://schemas.openxmlformats.org/drawingml/2006/main">
            <a:off x="9096375" y="50292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B6573"/>
                </a:solidFill>
                <a:latin typeface="Arial"/>
                <a:ea typeface="Arial"/>
                <a:cs typeface="Arial"/>
              </a:defRPr>
            </a:pPr>
            <a:r>
              <a:rPr sz="1500" b="0">
                <a:solidFill>
                  <a:srgbClr val="5B6573"/>
                </a:solidFill>
                <a:latin typeface="Arial"/>
                <a:ea typeface="Arial"/>
                <a:cs typeface="Arial"/>
              </a:rPr>
              <a:t>Glare and small targets</a:t>
            </a:r>
          </a:p>
        </p:txBody>
      </p:sp>
    </p:spTree>
    <p:extLst>
      <p:ext uri="{BB962C8B-B14F-4D97-AF65-F5344CB8AC3E}">
        <p14:creationId xmlns:p14="http://schemas.microsoft.com/office/powerpoint/2010/main" val="10152525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9">
            <a:extLst xmlns:a="http://schemas.openxmlformats.org/drawingml/2006/main">
              <a:ext uri="{FF2B5EF4-FFF2-40B4-BE49-F238E27FC236}">
                <a16:creationId xmlns:a16="http://schemas.microsoft.com/office/drawing/2014/main" id="{AC517F38-F688-4443-A275-7FBF727465F1}"/>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More negative exposure is not a universal benefit</a:t>
            </a:r>
          </a:p>
        </p:txBody>
      </p:sp>
      <p:sp>
        <p:nvSpPr>
          <p:cNvPr id="2" name="title-rule-9">
            <a:extLst xmlns:a="http://schemas.openxmlformats.org/drawingml/2006/main">
              <a:ext uri="{FF2B5EF4-FFF2-40B4-BE49-F238E27FC236}">
                <a16:creationId xmlns:a16="http://schemas.microsoft.com/office/drawing/2014/main" id="{9C3E84F0-64C8-4E19-BBD4-6C6EB6843EE1}"/>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9">
            <a:extLst xmlns:a="http://schemas.openxmlformats.org/drawingml/2006/main">
              <a:ext uri="{FF2B5EF4-FFF2-40B4-BE49-F238E27FC236}">
                <a16:creationId xmlns:a16="http://schemas.microsoft.com/office/drawing/2014/main" id="{39BDAAA5-BA15-4AF8-B000-7D64D4287A1D}"/>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9</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e3decfd861049eb"/>
          <a:stretch xmlns:a="http://schemas.openxmlformats.org/drawingml/2006/main"/>
        </p:blipFill>
        <p:spPr>
          <a:xfrm xmlns:a="http://schemas.openxmlformats.org/drawingml/2006/main">
            <a:off x="586239" y="1428750"/>
            <a:ext cx="11019522" cy="3619500"/>
          </a:xfrm>
          <a:prstGeom xmlns:a="http://schemas.openxmlformats.org/drawingml/2006/main" prst="rect">
            <a:avLst/>
          </a:prstGeom>
        </p:spPr>
      </p:pic>
      <p:sp>
        <p:nvSpPr>
          <p:cNvPr id="5" name="nir-map">
            <a:extLst xmlns:a="http://schemas.openxmlformats.org/drawingml/2006/main">
              <a:ext uri="{FF2B5EF4-FFF2-40B4-BE49-F238E27FC236}">
                <a16:creationId xmlns:a16="http://schemas.microsoft.com/office/drawing/2014/main" id="{394D8282-8CAF-4BC6-85FB-60CE011DE9DA}"/>
              </a:ext>
            </a:extLst>
          </p:cNvPr>
          <p:cNvSpPr>
            <a:spLocks xmlns:a="http://schemas.openxmlformats.org/drawingml/2006/main" noGrp="1"/>
          </p:cNvSpPr>
          <p:nvPr/>
        </p:nvSpPr>
        <p:spPr>
          <a:xfrm xmlns:a="http://schemas.openxmlformats.org/drawingml/2006/main">
            <a:off x="2333625" y="523875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3150" b="1">
                <a:solidFill>
                  <a:srgbClr val="3D8DFF"/>
                </a:solidFill>
                <a:latin typeface="Arial"/>
                <a:ea typeface="Arial"/>
                <a:cs typeface="Arial"/>
              </a:defRPr>
            </a:pPr>
            <a:r>
              <a:rPr sz="3150" b="1">
                <a:solidFill>
                  <a:srgbClr val="3D8DFF"/>
                </a:solidFill>
                <a:latin typeface="Arial"/>
                <a:ea typeface="Arial"/>
                <a:cs typeface="Arial"/>
              </a:rPr>
              <a:t>3 / 8</a:t>
            </a:r>
          </a:p>
        </p:txBody>
      </p:sp>
      <p:sp>
        <p:nvSpPr>
          <p:cNvPr id="6" name="nir-map-label">
            <a:extLst xmlns:a="http://schemas.openxmlformats.org/drawingml/2006/main">
              <a:ext uri="{FF2B5EF4-FFF2-40B4-BE49-F238E27FC236}">
                <a16:creationId xmlns:a16="http://schemas.microsoft.com/office/drawing/2014/main" id="{9AA9EE44-806E-469D-B2C2-1C5EE9905C32}"/>
              </a:ext>
            </a:extLst>
          </p:cNvPr>
          <p:cNvSpPr>
            <a:spLocks xmlns:a="http://schemas.openxmlformats.org/drawingml/2006/main" noGrp="1"/>
          </p:cNvSpPr>
          <p:nvPr/>
        </p:nvSpPr>
        <p:spPr>
          <a:xfrm xmlns:a="http://schemas.openxmlformats.org/drawingml/2006/main">
            <a:off x="1619250" y="58293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75" b="0">
                <a:solidFill>
                  <a:srgbClr val="5B6573"/>
                </a:solidFill>
                <a:latin typeface="Arial"/>
                <a:ea typeface="Arial"/>
                <a:cs typeface="Arial"/>
              </a:defRPr>
            </a:pPr>
            <a:r>
              <a:rPr sz="1575" b="0">
                <a:solidFill>
                  <a:srgbClr val="5B6573"/>
                </a:solidFill>
                <a:latin typeface="Arial"/>
                <a:ea typeface="Arial"/>
                <a:cs typeface="Arial"/>
              </a:rPr>
              <a:t>improved strict-IoU AP</a:t>
            </a:r>
          </a:p>
        </p:txBody>
      </p:sp>
      <p:sp>
        <p:nvSpPr>
          <p:cNvPr id="7" name="nir-f1">
            <a:extLst xmlns:a="http://schemas.openxmlformats.org/drawingml/2006/main">
              <a:ext uri="{FF2B5EF4-FFF2-40B4-BE49-F238E27FC236}">
                <a16:creationId xmlns:a16="http://schemas.microsoft.com/office/drawing/2014/main" id="{96DD474C-CB43-47D3-8C64-59B4C5CFB468}"/>
              </a:ext>
            </a:extLst>
          </p:cNvPr>
          <p:cNvSpPr>
            <a:spLocks xmlns:a="http://schemas.openxmlformats.org/drawingml/2006/main" noGrp="1"/>
          </p:cNvSpPr>
          <p:nvPr/>
        </p:nvSpPr>
        <p:spPr>
          <a:xfrm xmlns:a="http://schemas.openxmlformats.org/drawingml/2006/main">
            <a:off x="7953375" y="523875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3150" b="1">
                <a:solidFill>
                  <a:srgbClr val="D55E00"/>
                </a:solidFill>
                <a:latin typeface="Arial"/>
                <a:ea typeface="Arial"/>
                <a:cs typeface="Arial"/>
              </a:defRPr>
            </a:pPr>
            <a:r>
              <a:rPr sz="3150" b="1">
                <a:solidFill>
                  <a:srgbClr val="D55E00"/>
                </a:solidFill>
                <a:latin typeface="Arial"/>
                <a:ea typeface="Arial"/>
                <a:cs typeface="Arial"/>
              </a:rPr>
              <a:t>1 / 8</a:t>
            </a:r>
          </a:p>
        </p:txBody>
      </p:sp>
      <p:sp>
        <p:nvSpPr>
          <p:cNvPr id="8" name="nir-f1-label">
            <a:extLst xmlns:a="http://schemas.openxmlformats.org/drawingml/2006/main">
              <a:ext uri="{FF2B5EF4-FFF2-40B4-BE49-F238E27FC236}">
                <a16:creationId xmlns:a16="http://schemas.microsoft.com/office/drawing/2014/main" id="{26CDBA6A-BB2A-4D0A-B0DC-D55E3032A177}"/>
              </a:ext>
            </a:extLst>
          </p:cNvPr>
          <p:cNvSpPr>
            <a:spLocks xmlns:a="http://schemas.openxmlformats.org/drawingml/2006/main" noGrp="1"/>
          </p:cNvSpPr>
          <p:nvPr/>
        </p:nvSpPr>
        <p:spPr>
          <a:xfrm xmlns:a="http://schemas.openxmlformats.org/drawingml/2006/main">
            <a:off x="7239000" y="58293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75" b="0">
                <a:solidFill>
                  <a:srgbClr val="5B6573"/>
                </a:solidFill>
                <a:latin typeface="Arial"/>
                <a:ea typeface="Arial"/>
                <a:cs typeface="Arial"/>
              </a:defRPr>
            </a:pPr>
            <a:r>
              <a:rPr sz="1575" b="0">
                <a:solidFill>
                  <a:srgbClr val="5B6573"/>
                </a:solidFill>
                <a:latin typeface="Arial"/>
                <a:ea typeface="Arial"/>
                <a:cs typeface="Arial"/>
              </a:rPr>
              <a:t>improved micro-F1</a:t>
            </a:r>
          </a:p>
        </p:txBody>
      </p:sp>
    </p:spTree>
    <p:extLst>
      <p:ext uri="{BB962C8B-B14F-4D97-AF65-F5344CB8AC3E}">
        <p14:creationId xmlns:p14="http://schemas.microsoft.com/office/powerpoint/2010/main" val="12947361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10">
            <a:extLst xmlns:a="http://schemas.openxmlformats.org/drawingml/2006/main">
              <a:ext uri="{FF2B5EF4-FFF2-40B4-BE49-F238E27FC236}">
                <a16:creationId xmlns:a16="http://schemas.microsoft.com/office/drawing/2014/main" id="{1E0D3096-4771-4E7F-84ED-1F8436F048D3}"/>
              </a:ext>
            </a:extLst>
          </p:cNvPr>
          <p:cNvSpPr>
            <a:spLocks xmlns:a="http://schemas.openxmlformats.org/drawingml/2006/main" noGrp="1"/>
          </p:cNvSpPr>
          <p:nvPr/>
        </p:nvSpPr>
        <p:spPr>
          <a:xfrm xmlns:a="http://schemas.openxmlformats.org/drawingml/2006/main">
            <a:off x="55245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Choose the detector for the failure cost</a:t>
            </a:r>
          </a:p>
        </p:txBody>
      </p:sp>
      <p:sp>
        <p:nvSpPr>
          <p:cNvPr id="2" name="title-rule-10">
            <a:extLst xmlns:a="http://schemas.openxmlformats.org/drawingml/2006/main">
              <a:ext uri="{FF2B5EF4-FFF2-40B4-BE49-F238E27FC236}">
                <a16:creationId xmlns:a16="http://schemas.microsoft.com/office/drawing/2014/main" id="{06FBA60F-84D5-4CA4-94D6-9EAC13918443}"/>
              </a:ext>
            </a:extLst>
          </p:cNvPr>
          <p:cNvSpPr>
            <a:spLocks xmlns:a="http://schemas.openxmlformats.org/drawingml/2006/main" noGrp="1"/>
          </p:cNvSpPr>
          <p:nvPr/>
        </p:nvSpPr>
        <p:spPr>
          <a:xfrm xmlns:a="http://schemas.openxmlformats.org/drawingml/2006/main">
            <a:off x="552450" y="1066800"/>
            <a:ext cx="9144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10">
            <a:extLst xmlns:a="http://schemas.openxmlformats.org/drawingml/2006/main">
              <a:ext uri="{FF2B5EF4-FFF2-40B4-BE49-F238E27FC236}">
                <a16:creationId xmlns:a16="http://schemas.microsoft.com/office/drawing/2014/main" id="{6470E5D2-72F3-4A32-82D4-CB46B1231C96}"/>
              </a:ext>
            </a:extLst>
          </p:cNvPr>
          <p:cNvSpPr>
            <a:spLocks xmlns:a="http://schemas.openxmlformats.org/drawingml/2006/main" noGrp="1"/>
          </p:cNvSpPr>
          <p:nvPr/>
        </p:nvSpPr>
        <p:spPr>
          <a:xfrm xmlns:a="http://schemas.openxmlformats.org/drawingml/2006/main">
            <a:off x="11191875" y="63341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6573"/>
                </a:solidFill>
                <a:latin typeface="Arial"/>
                <a:ea typeface="Arial"/>
                <a:cs typeface="Arial"/>
              </a:defRPr>
            </a:pPr>
            <a:r>
              <a:rPr sz="1200" b="0">
                <a:solidFill>
                  <a:srgbClr val="5B6573"/>
                </a:solidFill>
                <a:latin typeface="Arial"/>
                <a:ea typeface="Arial"/>
                <a:cs typeface="Arial"/>
              </a:rPr>
              <a:t>10</a:t>
            </a:r>
          </a:p>
        </p:txBody>
      </p:sp>
      <p:sp>
        <p:nvSpPr>
          <p:cNvPr id="4" name="deploy-accent-0">
            <a:extLst xmlns:a="http://schemas.openxmlformats.org/drawingml/2006/main">
              <a:ext uri="{FF2B5EF4-FFF2-40B4-BE49-F238E27FC236}">
                <a16:creationId xmlns:a16="http://schemas.microsoft.com/office/drawing/2014/main" id="{68076247-6FD1-481A-8562-BEFECEE83B8E}"/>
              </a:ext>
            </a:extLst>
          </p:cNvPr>
          <p:cNvSpPr>
            <a:spLocks xmlns:a="http://schemas.openxmlformats.org/drawingml/2006/main" noGrp="1"/>
          </p:cNvSpPr>
          <p:nvPr/>
        </p:nvSpPr>
        <p:spPr>
          <a:xfrm xmlns:a="http://schemas.openxmlformats.org/drawingml/2006/main">
            <a:off x="666750" y="1714500"/>
            <a:ext cx="28575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deploy-head-0">
            <a:extLst xmlns:a="http://schemas.openxmlformats.org/drawingml/2006/main">
              <a:ext uri="{FF2B5EF4-FFF2-40B4-BE49-F238E27FC236}">
                <a16:creationId xmlns:a16="http://schemas.microsoft.com/office/drawing/2014/main" id="{FDB81F2F-C48C-4C51-B7FC-65BDD6603562}"/>
              </a:ext>
            </a:extLst>
          </p:cNvPr>
          <p:cNvSpPr>
            <a:spLocks xmlns:a="http://schemas.openxmlformats.org/drawingml/2006/main" noGrp="1"/>
          </p:cNvSpPr>
          <p:nvPr/>
        </p:nvSpPr>
        <p:spPr>
          <a:xfrm xmlns:a="http://schemas.openxmlformats.org/drawingml/2006/main">
            <a:off x="666750" y="209550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False alarms cost more</a:t>
            </a:r>
          </a:p>
        </p:txBody>
      </p:sp>
      <p:sp>
        <p:nvSpPr>
          <p:cNvPr id="6" name="deploy-model-0">
            <a:extLst xmlns:a="http://schemas.openxmlformats.org/drawingml/2006/main">
              <a:ext uri="{FF2B5EF4-FFF2-40B4-BE49-F238E27FC236}">
                <a16:creationId xmlns:a16="http://schemas.microsoft.com/office/drawing/2014/main" id="{5C720B4D-B670-4D29-AFF9-8C3793A4109D}"/>
              </a:ext>
            </a:extLst>
          </p:cNvPr>
          <p:cNvSpPr>
            <a:spLocks xmlns:a="http://schemas.openxmlformats.org/drawingml/2006/main" noGrp="1"/>
          </p:cNvSpPr>
          <p:nvPr/>
        </p:nvSpPr>
        <p:spPr>
          <a:xfrm xmlns:a="http://schemas.openxmlformats.org/drawingml/2006/main">
            <a:off x="666750" y="323850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3D8DFF"/>
                </a:solidFill>
                <a:latin typeface="Arial"/>
                <a:ea typeface="Arial"/>
                <a:cs typeface="Arial"/>
              </a:defRPr>
            </a:pPr>
            <a:r>
              <a:rPr sz="2850" b="1">
                <a:solidFill>
                  <a:srgbClr val="3D8DFF"/>
                </a:solidFill>
                <a:latin typeface="Arial"/>
                <a:ea typeface="Arial"/>
                <a:cs typeface="Arial"/>
              </a:rPr>
              <a:t>YOLO11n</a:t>
            </a:r>
          </a:p>
        </p:txBody>
      </p:sp>
      <p:sp>
        <p:nvSpPr>
          <p:cNvPr id="7" name="deploy-body-0">
            <a:extLst xmlns:a="http://schemas.openxmlformats.org/drawingml/2006/main">
              <a:ext uri="{FF2B5EF4-FFF2-40B4-BE49-F238E27FC236}">
                <a16:creationId xmlns:a16="http://schemas.microsoft.com/office/drawing/2014/main" id="{781B2607-2B50-4DF5-9E3C-62F31A4C69D9}"/>
              </a:ext>
            </a:extLst>
          </p:cNvPr>
          <p:cNvSpPr>
            <a:spLocks xmlns:a="http://schemas.openxmlformats.org/drawingml/2006/main" noGrp="1"/>
          </p:cNvSpPr>
          <p:nvPr/>
        </p:nvSpPr>
        <p:spPr>
          <a:xfrm xmlns:a="http://schemas.openxmlformats.org/drawingml/2006/main">
            <a:off x="666750" y="4095750"/>
            <a:ext cx="285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0">
                <a:solidFill>
                  <a:srgbClr val="5B6573"/>
                </a:solidFill>
                <a:latin typeface="Arial"/>
                <a:ea typeface="Arial"/>
                <a:cs typeface="Arial"/>
              </a:defRPr>
            </a:pPr>
            <a:r>
              <a:rPr sz="1725" b="0">
                <a:solidFill>
                  <a:srgbClr val="5B6573"/>
                </a:solidFill>
                <a:latin typeface="Arial"/>
                <a:ea typeface="Arial"/>
                <a:cs typeface="Arial"/>
              </a:rPr>
              <a:t>Lowest FD₁₀₀</a:t>
            </a:r>
          </a:p>
          <a:p xmlns:a="http://schemas.openxmlformats.org/drawingml/2006/main">
            <a:pPr algn="l">
              <a:defRPr sz="1725" b="0">
                <a:solidFill>
                  <a:srgbClr val="5B6573"/>
                </a:solidFill>
                <a:latin typeface="Arial"/>
                <a:ea typeface="Arial"/>
                <a:cs typeface="Arial"/>
              </a:defRPr>
            </a:pPr>
            <a:r>
              <a:rPr sz="1725" b="0">
                <a:solidFill>
                  <a:srgbClr val="5B6573"/>
                </a:solidFill>
                <a:latin typeface="Arial"/>
                <a:ea typeface="Arial"/>
                <a:cs typeface="Arial"/>
              </a:rPr>
              <a:t>Highest throughput</a:t>
            </a:r>
          </a:p>
        </p:txBody>
      </p:sp>
      <p:sp>
        <p:nvSpPr>
          <p:cNvPr id="8" name="deploy-accent-1">
            <a:extLst xmlns:a="http://schemas.openxmlformats.org/drawingml/2006/main">
              <a:ext uri="{FF2B5EF4-FFF2-40B4-BE49-F238E27FC236}">
                <a16:creationId xmlns:a16="http://schemas.microsoft.com/office/drawing/2014/main" id="{D2F19444-97B2-4EE5-8193-D04F2D4C4B86}"/>
              </a:ext>
            </a:extLst>
          </p:cNvPr>
          <p:cNvSpPr>
            <a:spLocks xmlns:a="http://schemas.openxmlformats.org/drawingml/2006/main" noGrp="1"/>
          </p:cNvSpPr>
          <p:nvPr/>
        </p:nvSpPr>
        <p:spPr>
          <a:xfrm xmlns:a="http://schemas.openxmlformats.org/drawingml/2006/main">
            <a:off x="4333875" y="1714500"/>
            <a:ext cx="2857500" cy="76200"/>
          </a:xfrm>
          <a:prstGeom xmlns:a="http://schemas.openxmlformats.org/drawingml/2006/main" prst="rect">
            <a:avLst/>
          </a:prstGeom>
          <a:solidFill xmlns:a="http://schemas.openxmlformats.org/drawingml/2006/main">
            <a:srgbClr val="D55E00"/>
          </a:solidFill>
          <a:ln xmlns:a="http://schemas.openxmlformats.org/drawingml/2006/main" w="0">
            <a:noFill/>
            <a:prstDash val="solid"/>
          </a:ln>
        </p:spPr>
      </p:sp>
      <p:sp>
        <p:nvSpPr>
          <p:cNvPr id="9" name="deploy-head-1">
            <a:extLst xmlns:a="http://schemas.openxmlformats.org/drawingml/2006/main">
              <a:ext uri="{FF2B5EF4-FFF2-40B4-BE49-F238E27FC236}">
                <a16:creationId xmlns:a16="http://schemas.microsoft.com/office/drawing/2014/main" id="{11DC5215-595A-469B-AB56-9F71AC3ADE08}"/>
              </a:ext>
            </a:extLst>
          </p:cNvPr>
          <p:cNvSpPr>
            <a:spLocks xmlns:a="http://schemas.openxmlformats.org/drawingml/2006/main" noGrp="1"/>
          </p:cNvSpPr>
          <p:nvPr/>
        </p:nvSpPr>
        <p:spPr>
          <a:xfrm xmlns:a="http://schemas.openxmlformats.org/drawingml/2006/main">
            <a:off x="4333875" y="209550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Localization must be precise</a:t>
            </a:r>
          </a:p>
        </p:txBody>
      </p:sp>
      <p:sp>
        <p:nvSpPr>
          <p:cNvPr id="10" name="deploy-model-1">
            <a:extLst xmlns:a="http://schemas.openxmlformats.org/drawingml/2006/main">
              <a:ext uri="{FF2B5EF4-FFF2-40B4-BE49-F238E27FC236}">
                <a16:creationId xmlns:a16="http://schemas.microsoft.com/office/drawing/2014/main" id="{BB4303A7-FB5A-4CBE-8343-C073E88FD16D}"/>
              </a:ext>
            </a:extLst>
          </p:cNvPr>
          <p:cNvSpPr>
            <a:spLocks xmlns:a="http://schemas.openxmlformats.org/drawingml/2006/main" noGrp="1"/>
          </p:cNvSpPr>
          <p:nvPr/>
        </p:nvSpPr>
        <p:spPr>
          <a:xfrm xmlns:a="http://schemas.openxmlformats.org/drawingml/2006/main">
            <a:off x="4333875" y="323850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D55E00"/>
                </a:solidFill>
                <a:latin typeface="Arial"/>
                <a:ea typeface="Arial"/>
                <a:cs typeface="Arial"/>
              </a:defRPr>
            </a:pPr>
            <a:r>
              <a:rPr sz="2850" b="1">
                <a:solidFill>
                  <a:srgbClr val="D55E00"/>
                </a:solidFill>
                <a:latin typeface="Arial"/>
                <a:ea typeface="Arial"/>
                <a:cs typeface="Arial"/>
              </a:rPr>
              <a:t>YOLO26n</a:t>
            </a:r>
          </a:p>
        </p:txBody>
      </p:sp>
      <p:sp>
        <p:nvSpPr>
          <p:cNvPr id="11" name="deploy-body-1">
            <a:extLst xmlns:a="http://schemas.openxmlformats.org/drawingml/2006/main">
              <a:ext uri="{FF2B5EF4-FFF2-40B4-BE49-F238E27FC236}">
                <a16:creationId xmlns:a16="http://schemas.microsoft.com/office/drawing/2014/main" id="{1DACAAA3-BE57-4319-A81F-3A50B7095BB7}"/>
              </a:ext>
            </a:extLst>
          </p:cNvPr>
          <p:cNvSpPr>
            <a:spLocks xmlns:a="http://schemas.openxmlformats.org/drawingml/2006/main" noGrp="1"/>
          </p:cNvSpPr>
          <p:nvPr/>
        </p:nvSpPr>
        <p:spPr>
          <a:xfrm xmlns:a="http://schemas.openxmlformats.org/drawingml/2006/main">
            <a:off x="4333875" y="4095750"/>
            <a:ext cx="285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0">
                <a:solidFill>
                  <a:srgbClr val="5B6573"/>
                </a:solidFill>
                <a:latin typeface="Arial"/>
                <a:ea typeface="Arial"/>
                <a:cs typeface="Arial"/>
              </a:defRPr>
            </a:pPr>
            <a:r>
              <a:rPr sz="1725" b="0">
                <a:solidFill>
                  <a:srgbClr val="5B6573"/>
                </a:solidFill>
                <a:latin typeface="Arial"/>
                <a:ea typeface="Arial"/>
                <a:cs typeface="Arial"/>
              </a:rPr>
              <a:t>Best mAP@0.5:0.95</a:t>
            </a:r>
          </a:p>
          <a:p xmlns:a="http://schemas.openxmlformats.org/drawingml/2006/main">
            <a:pPr algn="l">
              <a:defRPr sz="1725" b="0">
                <a:solidFill>
                  <a:srgbClr val="5B6573"/>
                </a:solidFill>
                <a:latin typeface="Arial"/>
                <a:ea typeface="Arial"/>
                <a:cs typeface="Arial"/>
              </a:defRPr>
            </a:pPr>
            <a:r>
              <a:rPr sz="1725" b="0">
                <a:solidFill>
                  <a:srgbClr val="5B6573"/>
                </a:solidFill>
                <a:latin typeface="Arial"/>
                <a:ea typeface="Arial"/>
                <a:cs typeface="Arial"/>
              </a:rPr>
              <a:t>Smallest model</a:t>
            </a:r>
          </a:p>
        </p:txBody>
      </p:sp>
      <p:sp>
        <p:nvSpPr>
          <p:cNvPr id="12" name="deploy-accent-2">
            <a:extLst xmlns:a="http://schemas.openxmlformats.org/drawingml/2006/main">
              <a:ext uri="{FF2B5EF4-FFF2-40B4-BE49-F238E27FC236}">
                <a16:creationId xmlns:a16="http://schemas.microsoft.com/office/drawing/2014/main" id="{F067E785-828B-4092-9BF7-2E18D660E0AA}"/>
              </a:ext>
            </a:extLst>
          </p:cNvPr>
          <p:cNvSpPr>
            <a:spLocks xmlns:a="http://schemas.openxmlformats.org/drawingml/2006/main" noGrp="1"/>
          </p:cNvSpPr>
          <p:nvPr/>
        </p:nvSpPr>
        <p:spPr>
          <a:xfrm xmlns:a="http://schemas.openxmlformats.org/drawingml/2006/main">
            <a:off x="8001000" y="1714500"/>
            <a:ext cx="2857500" cy="76200"/>
          </a:xfrm>
          <a:prstGeom xmlns:a="http://schemas.openxmlformats.org/drawingml/2006/main" prst="rect">
            <a:avLst/>
          </a:prstGeom>
          <a:solidFill xmlns:a="http://schemas.openxmlformats.org/drawingml/2006/main">
            <a:srgbClr val="009E73"/>
          </a:solidFill>
          <a:ln xmlns:a="http://schemas.openxmlformats.org/drawingml/2006/main" w="0">
            <a:noFill/>
            <a:prstDash val="solid"/>
          </a:ln>
        </p:spPr>
      </p:sp>
      <p:sp>
        <p:nvSpPr>
          <p:cNvPr id="13" name="deploy-head-2">
            <a:extLst xmlns:a="http://schemas.openxmlformats.org/drawingml/2006/main">
              <a:ext uri="{FF2B5EF4-FFF2-40B4-BE49-F238E27FC236}">
                <a16:creationId xmlns:a16="http://schemas.microsoft.com/office/drawing/2014/main" id="{DD24E445-29FC-49D3-9DCD-6CC1FEDE6FA5}"/>
              </a:ext>
            </a:extLst>
          </p:cNvPr>
          <p:cNvSpPr>
            <a:spLocks xmlns:a="http://schemas.openxmlformats.org/drawingml/2006/main" noGrp="1"/>
          </p:cNvSpPr>
          <p:nvPr/>
        </p:nvSpPr>
        <p:spPr>
          <a:xfrm xmlns:a="http://schemas.openxmlformats.org/drawingml/2006/main">
            <a:off x="8001000" y="209550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Calibrated F1 matters most</a:t>
            </a:r>
          </a:p>
        </p:txBody>
      </p:sp>
      <p:sp>
        <p:nvSpPr>
          <p:cNvPr id="14" name="deploy-model-2">
            <a:extLst xmlns:a="http://schemas.openxmlformats.org/drawingml/2006/main">
              <a:ext uri="{FF2B5EF4-FFF2-40B4-BE49-F238E27FC236}">
                <a16:creationId xmlns:a16="http://schemas.microsoft.com/office/drawing/2014/main" id="{BC11DF0F-1734-48A3-B09A-23C10CBF3015}"/>
              </a:ext>
            </a:extLst>
          </p:cNvPr>
          <p:cNvSpPr>
            <a:spLocks xmlns:a="http://schemas.openxmlformats.org/drawingml/2006/main" noGrp="1"/>
          </p:cNvSpPr>
          <p:nvPr/>
        </p:nvSpPr>
        <p:spPr>
          <a:xfrm xmlns:a="http://schemas.openxmlformats.org/drawingml/2006/main">
            <a:off x="8001000" y="323850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9E73"/>
                </a:solidFill>
                <a:latin typeface="Arial"/>
                <a:ea typeface="Arial"/>
                <a:cs typeface="Arial"/>
              </a:defRPr>
            </a:pPr>
            <a:r>
              <a:rPr sz="2850" b="1">
                <a:solidFill>
                  <a:srgbClr val="009E73"/>
                </a:solidFill>
                <a:latin typeface="Arial"/>
                <a:ea typeface="Arial"/>
                <a:cs typeface="Arial"/>
              </a:rPr>
              <a:t>D-FINE-N</a:t>
            </a:r>
          </a:p>
        </p:txBody>
      </p:sp>
      <p:sp>
        <p:nvSpPr>
          <p:cNvPr id="15" name="deploy-body-2">
            <a:extLst xmlns:a="http://schemas.openxmlformats.org/drawingml/2006/main">
              <a:ext uri="{FF2B5EF4-FFF2-40B4-BE49-F238E27FC236}">
                <a16:creationId xmlns:a16="http://schemas.microsoft.com/office/drawing/2014/main" id="{E9103269-AABB-4962-A90A-5568028D91AE}"/>
              </a:ext>
            </a:extLst>
          </p:cNvPr>
          <p:cNvSpPr>
            <a:spLocks xmlns:a="http://schemas.openxmlformats.org/drawingml/2006/main" noGrp="1"/>
          </p:cNvSpPr>
          <p:nvPr/>
        </p:nvSpPr>
        <p:spPr>
          <a:xfrm xmlns:a="http://schemas.openxmlformats.org/drawingml/2006/main">
            <a:off x="8001000" y="4095750"/>
            <a:ext cx="285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0">
                <a:solidFill>
                  <a:srgbClr val="5B6573"/>
                </a:solidFill>
                <a:latin typeface="Arial"/>
                <a:ea typeface="Arial"/>
                <a:cs typeface="Arial"/>
              </a:defRPr>
            </a:pPr>
            <a:r>
              <a:rPr sz="1725" b="0">
                <a:solidFill>
                  <a:srgbClr val="5B6573"/>
                </a:solidFill>
                <a:latin typeface="Arial"/>
                <a:ea typeface="Arial"/>
                <a:cs typeface="Arial"/>
              </a:rPr>
              <a:t>Best micro- and macro-F1</a:t>
            </a:r>
          </a:p>
          <a:p xmlns:a="http://schemas.openxmlformats.org/drawingml/2006/main">
            <a:pPr algn="l">
              <a:defRPr sz="1725" b="0">
                <a:solidFill>
                  <a:srgbClr val="5B6573"/>
                </a:solidFill>
                <a:latin typeface="Arial"/>
                <a:ea typeface="Arial"/>
                <a:cs typeface="Arial"/>
              </a:defRPr>
            </a:pPr>
            <a:r>
              <a:rPr sz="1725" b="0">
                <a:solidFill>
                  <a:srgbClr val="5B6573"/>
                </a:solidFill>
                <a:latin typeface="Arial"/>
                <a:ea typeface="Arial"/>
                <a:cs typeface="Arial"/>
              </a:rPr>
              <a:t>Higher latency</a:t>
            </a:r>
          </a:p>
        </p:txBody>
      </p:sp>
      <p:sp>
        <p:nvSpPr>
          <p:cNvPr id="16" name="deploy-caveat">
            <a:extLst xmlns:a="http://schemas.openxmlformats.org/drawingml/2006/main">
              <a:ext uri="{FF2B5EF4-FFF2-40B4-BE49-F238E27FC236}">
                <a16:creationId xmlns:a16="http://schemas.microsoft.com/office/drawing/2014/main" id="{A710A4B1-33FB-48F5-B917-27A6B51E455D}"/>
              </a:ext>
            </a:extLst>
          </p:cNvPr>
          <p:cNvSpPr>
            <a:spLocks xmlns:a="http://schemas.openxmlformats.org/drawingml/2006/main" noGrp="1"/>
          </p:cNvSpPr>
          <p:nvPr/>
        </p:nvSpPr>
        <p:spPr>
          <a:xfrm xmlns:a="http://schemas.openxmlformats.org/drawingml/2006/main">
            <a:off x="1428750" y="5572125"/>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025" b="1">
                <a:solidFill>
                  <a:srgbClr val="111111"/>
                </a:solidFill>
                <a:latin typeface="Arial"/>
                <a:ea typeface="Arial"/>
                <a:cs typeface="Arial"/>
              </a:defRPr>
            </a:pPr>
            <a:r>
              <a:rPr sz="2025" b="1">
                <a:solidFill>
                  <a:srgbClr val="111111"/>
                </a:solidFill>
                <a:latin typeface="Arial"/>
                <a:ea typeface="Arial"/>
                <a:cs typeface="Arial"/>
              </a:rPr>
              <a:t>Validate again on the target population and hardware.</a:t>
            </a:r>
          </a:p>
        </p:txBody>
      </p:sp>
    </p:spTree>
    <p:extLst>
      <p:ext uri="{BB962C8B-B14F-4D97-AF65-F5344CB8AC3E}">
        <p14:creationId xmlns:p14="http://schemas.microsoft.com/office/powerpoint/2010/main" val="15302336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losing-eyebrow">
            <a:extLst xmlns:a="http://schemas.openxmlformats.org/drawingml/2006/main">
              <a:ext uri="{FF2B5EF4-FFF2-40B4-BE49-F238E27FC236}">
                <a16:creationId xmlns:a16="http://schemas.microsoft.com/office/drawing/2014/main" id="{A74A661B-382A-4461-BB75-CA292F3FE2AE}"/>
              </a:ext>
            </a:extLst>
          </p:cNvPr>
          <p:cNvSpPr>
            <a:spLocks xmlns:a="http://schemas.openxmlformats.org/drawingml/2006/main" noGrp="1"/>
          </p:cNvSpPr>
          <p:nvPr/>
        </p:nvSpPr>
        <p:spPr>
          <a:xfrm xmlns:a="http://schemas.openxmlformats.org/drawingml/2006/main">
            <a:off x="590550" y="476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TAKEAWAY</a:t>
            </a:r>
          </a:p>
        </p:txBody>
      </p:sp>
      <p:sp>
        <p:nvSpPr>
          <p:cNvPr id="2" name="closing-title">
            <a:extLst xmlns:a="http://schemas.openxmlformats.org/drawingml/2006/main">
              <a:ext uri="{FF2B5EF4-FFF2-40B4-BE49-F238E27FC236}">
                <a16:creationId xmlns:a16="http://schemas.microsoft.com/office/drawing/2014/main" id="{99F9E9C1-45A4-437D-912F-D4DCA22F13BE}"/>
              </a:ext>
            </a:extLst>
          </p:cNvPr>
          <p:cNvSpPr>
            <a:spLocks xmlns:a="http://schemas.openxmlformats.org/drawingml/2006/main" noGrp="1"/>
          </p:cNvSpPr>
          <p:nvPr/>
        </p:nvSpPr>
        <p:spPr>
          <a:xfrm xmlns:a="http://schemas.openxmlformats.org/drawingml/2006/main">
            <a:off x="590550" y="1381125"/>
            <a:ext cx="8572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500" b="1">
                <a:solidFill>
                  <a:srgbClr val="111111"/>
                </a:solidFill>
                <a:latin typeface="Arial"/>
                <a:ea typeface="Arial"/>
                <a:cs typeface="Arial"/>
              </a:defRPr>
            </a:pPr>
            <a:r>
              <a:rPr sz="4500" b="1">
                <a:solidFill>
                  <a:srgbClr val="111111"/>
                </a:solidFill>
                <a:latin typeface="Arial"/>
                <a:ea typeface="Arial"/>
                <a:cs typeface="Arial"/>
              </a:rPr>
              <a:t>No detector wins every</a:t>
            </a:r>
          </a:p>
          <a:p xmlns:a="http://schemas.openxmlformats.org/drawingml/2006/main">
            <a:pPr algn="l">
              <a:defRPr sz="4500" b="1">
                <a:solidFill>
                  <a:srgbClr val="111111"/>
                </a:solidFill>
                <a:latin typeface="Arial"/>
                <a:ea typeface="Arial"/>
                <a:cs typeface="Arial"/>
              </a:defRPr>
            </a:pPr>
            <a:r>
              <a:rPr sz="4500" b="1">
                <a:solidFill>
                  <a:srgbClr val="111111"/>
                </a:solidFill>
                <a:latin typeface="Arial"/>
                <a:ea typeface="Arial"/>
                <a:cs typeface="Arial"/>
              </a:rPr>
              <a:t>deployment axis.</a:t>
            </a:r>
          </a:p>
        </p:txBody>
      </p:sp>
      <p:sp>
        <p:nvSpPr>
          <p:cNvPr id="3" name="closing-principles">
            <a:extLst xmlns:a="http://schemas.openxmlformats.org/drawingml/2006/main">
              <a:ext uri="{FF2B5EF4-FFF2-40B4-BE49-F238E27FC236}">
                <a16:creationId xmlns:a16="http://schemas.microsoft.com/office/drawing/2014/main" id="{CF4E3812-0B8B-40DF-A6BE-F92B4BE407AE}"/>
              </a:ext>
            </a:extLst>
          </p:cNvPr>
          <p:cNvSpPr>
            <a:spLocks xmlns:a="http://schemas.openxmlformats.org/drawingml/2006/main" noGrp="1"/>
          </p:cNvSpPr>
          <p:nvPr/>
        </p:nvSpPr>
        <p:spPr>
          <a:xfrm xmlns:a="http://schemas.openxmlformats.org/drawingml/2006/main">
            <a:off x="619125" y="36195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325" b="0">
                <a:solidFill>
                  <a:srgbClr val="5B6573"/>
                </a:solidFill>
                <a:latin typeface="Arial"/>
                <a:ea typeface="Arial"/>
                <a:cs typeface="Arial"/>
              </a:defRPr>
            </a:pPr>
            <a:r>
              <a:rPr sz="2325" b="0">
                <a:solidFill>
                  <a:srgbClr val="5B6573"/>
                </a:solidFill>
                <a:latin typeface="Arial"/>
                <a:ea typeface="Arial"/>
                <a:cs typeface="Arial"/>
              </a:rPr>
              <a:t>Split by subject</a:t>
            </a:r>
          </a:p>
          <a:p xmlns:a="http://schemas.openxmlformats.org/drawingml/2006/main">
            <a:pPr algn="l">
              <a:defRPr sz="2325" b="0">
                <a:solidFill>
                  <a:srgbClr val="5B6573"/>
                </a:solidFill>
                <a:latin typeface="Arial"/>
                <a:ea typeface="Arial"/>
                <a:cs typeface="Arial"/>
              </a:defRPr>
            </a:pPr>
            <a:r>
              <a:rPr sz="2325" b="0">
                <a:solidFill>
                  <a:srgbClr val="5B6573"/>
                </a:solidFill>
                <a:latin typeface="Arial"/>
                <a:ea typeface="Arial"/>
                <a:cs typeface="Arial"/>
              </a:rPr>
              <a:t>Tune only on validation</a:t>
            </a:r>
          </a:p>
          <a:p xmlns:a="http://schemas.openxmlformats.org/drawingml/2006/main">
            <a:pPr algn="l">
              <a:defRPr sz="2325" b="0">
                <a:solidFill>
                  <a:srgbClr val="5B6573"/>
                </a:solidFill>
                <a:latin typeface="Arial"/>
                <a:ea typeface="Arial"/>
                <a:cs typeface="Arial"/>
              </a:defRPr>
            </a:pPr>
            <a:r>
              <a:rPr sz="2325" b="0">
                <a:solidFill>
                  <a:srgbClr val="5B6573"/>
                </a:solidFill>
                <a:latin typeface="Arial"/>
                <a:ea typeface="Arial"/>
                <a:cs typeface="Arial"/>
              </a:rPr>
              <a:t>Report the failures</a:t>
            </a:r>
          </a:p>
        </p:txBody>
      </p:sp>
      <p:sp>
        <p:nvSpPr>
          <p:cNvPr id="4" name="closing-field">
            <a:extLst xmlns:a="http://schemas.openxmlformats.org/drawingml/2006/main">
              <a:ext uri="{FF2B5EF4-FFF2-40B4-BE49-F238E27FC236}">
                <a16:creationId xmlns:a16="http://schemas.microsoft.com/office/drawing/2014/main" id="{EB9A80A6-082D-4DAA-B453-EAB88ECD4112}"/>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qa">
            <a:extLst xmlns:a="http://schemas.openxmlformats.org/drawingml/2006/main">
              <a:ext uri="{FF2B5EF4-FFF2-40B4-BE49-F238E27FC236}">
                <a16:creationId xmlns:a16="http://schemas.microsoft.com/office/drawing/2014/main" id="{193DEEFD-321D-4AB1-9E51-067063A60F21}"/>
              </a:ext>
            </a:extLst>
          </p:cNvPr>
          <p:cNvSpPr>
            <a:spLocks xmlns:a="http://schemas.openxmlformats.org/drawingml/2006/main" noGrp="1"/>
          </p:cNvSpPr>
          <p:nvPr/>
        </p:nvSpPr>
        <p:spPr>
          <a:xfrm xmlns:a="http://schemas.openxmlformats.org/drawingml/2006/main">
            <a:off x="9191625" y="276225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3750" b="1">
                <a:solidFill>
                  <a:srgbClr val="111111"/>
                </a:solidFill>
                <a:latin typeface="Arial"/>
                <a:ea typeface="Arial"/>
                <a:cs typeface="Arial"/>
              </a:defRPr>
            </a:pPr>
            <a:r>
              <a:rPr sz="3750" b="1">
                <a:solidFill>
                  <a:srgbClr val="111111"/>
                </a:solidFill>
                <a:latin typeface="Arial"/>
                <a:ea typeface="Arial"/>
                <a:cs typeface="Arial"/>
              </a:rPr>
              <a:t>Q&amp;A</a:t>
            </a:r>
          </a:p>
        </p:txBody>
      </p:sp>
      <p:sp>
        <p:nvSpPr>
          <p:cNvPr id="6" name="repo">
            <a:extLst xmlns:a="http://schemas.openxmlformats.org/drawingml/2006/main">
              <a:ext uri="{FF2B5EF4-FFF2-40B4-BE49-F238E27FC236}">
                <a16:creationId xmlns:a16="http://schemas.microsoft.com/office/drawing/2014/main" id="{FDDB9843-B0E1-46A5-B73D-EFF6E16ADA4F}"/>
              </a:ext>
            </a:extLst>
          </p:cNvPr>
          <p:cNvSpPr>
            <a:spLocks xmlns:a="http://schemas.openxmlformats.org/drawingml/2006/main" noGrp="1"/>
          </p:cNvSpPr>
          <p:nvPr/>
        </p:nvSpPr>
        <p:spPr>
          <a:xfrm xmlns:a="http://schemas.openxmlformats.org/drawingml/2006/main">
            <a:off x="5953125" y="5715000"/>
            <a:ext cx="561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0">
                <a:solidFill>
                  <a:srgbClr val="5B6573"/>
                </a:solidFill>
                <a:latin typeface="Arial"/>
                <a:ea typeface="Arial"/>
                <a:cs typeface="Arial"/>
              </a:defRPr>
            </a:pPr>
            <a:r>
              <a:rPr sz="1350" b="0">
                <a:solidFill>
                  <a:srgbClr val="5B6573"/>
                </a:solidFill>
                <a:latin typeface="Arial"/>
                <a:ea typeface="Arial"/>
                <a:cs typeface="Arial"/>
              </a:rPr>
              <a:t>github.com/IamOumarIbrahim/</a:t>
            </a:r>
          </a:p>
          <a:p xmlns:a="http://schemas.openxmlformats.org/drawingml/2006/main">
            <a:pPr algn="r">
              <a:defRPr sz="1350" b="0">
                <a:solidFill>
                  <a:srgbClr val="5B6573"/>
                </a:solidFill>
                <a:latin typeface="Arial"/>
                <a:ea typeface="Arial"/>
                <a:cs typeface="Arial"/>
              </a:defRPr>
            </a:pPr>
            <a:r>
              <a:rPr sz="1350" b="0">
                <a:solidFill>
                  <a:srgbClr val="5B6573"/>
                </a:solidFill>
                <a:latin typeface="Arial"/>
                <a:ea typeface="Arial"/>
                <a:cs typeface="Arial"/>
              </a:rPr>
              <a:t>lightweight-driver-behavior-detection</a:t>
            </a:r>
          </a:p>
        </p:txBody>
      </p:sp>
    </p:spTree>
    <p:extLst>
      <p:ext uri="{BB962C8B-B14F-4D97-AF65-F5344CB8AC3E}">
        <p14:creationId xmlns:p14="http://schemas.microsoft.com/office/powerpoint/2010/main" val="10052112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2026-08-29T17:32:06.9770000Z</dcterms:created>
  <dcterms:modified xsi:type="dcterms:W3CDTF">2026-08-29T17:32:06.9770000Z</dcterms:modified>
</coreProperties>
</file>